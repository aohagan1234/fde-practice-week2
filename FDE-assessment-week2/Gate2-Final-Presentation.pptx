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Apex Distribution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3A6B"/>
                </a:solidFill>
              </a:rPr>
              <a:t>Gate 2 Agentic Transformation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5FA3"/>
                </a:solidFill>
              </a:rPr>
              <a:t>Recommendation: Build ETA Inquiry Agent (Phase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8400"/>
                </a:solidFill>
              </a:rPr>
              <a:t>Then Tackle Billing Disputes (Phase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 at Apex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Organization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D2D2D"/>
                </a:solidFill>
              </a:rPr>
              <a:t>Birmingham-based carrier</a:t>
            </a:r>
          </a:p>
          <a:p>
            <a:pPr/>
            <a:r>
              <a:rPr sz="1500">
                <a:solidFill>
                  <a:srgbClr val="2D2D2D"/>
                </a:solidFill>
              </a:rPr>
              <a:t>35-person Customer Ops team</a:t>
            </a:r>
          </a:p>
          <a:p>
            <a:pPr/>
            <a:r>
              <a:rPr sz="1500">
                <a:solidFill>
                  <a:srgbClr val="2D2D2D"/>
                </a:solidFill>
              </a:rPr>
              <a:t>730 customer interactions/day</a:t>
            </a:r>
          </a:p>
          <a:p>
            <a:pPr/>
            <a:r>
              <a:rPr sz="1500">
                <a:solidFill>
                  <a:srgbClr val="2D2D2D"/>
                </a:solidFill>
              </a:rPr>
              <a:t>4 work streams overlap constantly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F352A"/>
                </a:solidFill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D2D2D"/>
                </a:solidFill>
              </a:rPr>
              <a:t>Team overwhelmed with volume</a:t>
            </a:r>
          </a:p>
          <a:p>
            <a:pPr/>
            <a:r>
              <a:rPr sz="1500">
                <a:solidFill>
                  <a:srgbClr val="2D2D2D"/>
                </a:solidFill>
              </a:rPr>
              <a:t>2 automation failures (chatbot, RPA)</a:t>
            </a:r>
          </a:p>
          <a:p>
            <a:pPr/>
            <a:r>
              <a:rPr sz="1500">
                <a:solidFill>
                  <a:srgbClr val="2D2D2D"/>
                </a:solidFill>
              </a:rPr>
              <a:t>COO Sarah skeptical but needs results</a:t>
            </a:r>
          </a:p>
          <a:p>
            <a:pPr/>
            <a:r>
              <a:rPr sz="1500">
                <a:solidFill>
                  <a:srgbClr val="2D2D2D"/>
                </a:solidFill>
              </a:rPr>
              <a:t>Legacy systems constrain options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11247120" cy="2286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E7C7B"/>
                </a:solidFill>
              </a:rPr>
              <a:t>Our Assessment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D2D2D"/>
                </a:solidFill>
              </a:rPr>
              <a:t>Analyzed all 4 work streams using ATX methodology (7-phase assessment)</a:t>
            </a:r>
          </a:p>
          <a:p>
            <a:pPr/>
            <a:r>
              <a:rPr sz="1500">
                <a:solidFill>
                  <a:srgbClr val="2D2D2D"/>
                </a:solidFill>
              </a:rPr>
              <a:t>Scored each on: Volume × Automation Potential × Build Risk × Strategic Value</a:t>
            </a:r>
          </a:p>
          <a:p>
            <a:pPr/>
            <a:r>
              <a:rPr sz="1500">
                <a:solidFill>
                  <a:srgbClr val="2D2D2D"/>
                </a:solidFill>
              </a:rPr>
              <a:t>Identified which work can be fully automated vs. requires human judgment</a:t>
            </a:r>
          </a:p>
          <a:p>
            <a:pPr/>
            <a:r>
              <a:rPr sz="1500">
                <a:solidFill>
                  <a:srgbClr val="2D2D2D"/>
                </a:solidFill>
              </a:rPr>
              <a:t>Prioritized based on fastest ROI and lowest risk to rebuild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4 Workstreams Analyzed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11887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W1: Delivery Exceptions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6060"/>
                </a:solidFill>
              </a:rPr>
              <a:t>180/day | 12 min avg | 792 hrs/month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Driver issues, refused deliveries, damages, missed windows. Requires dispatcher judgment.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1188720"/>
          </a:xfrm>
          <a:prstGeom prst="rect">
            <a:avLst/>
          </a:prstGeom>
          <a:solidFill>
            <a:srgbClr val="D6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7A3C"/>
                </a:solidFill>
              </a:rPr>
              <a:t>W2: ETA Inquiries (WINNER)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400/day | 4 min avg | 587 hrs/month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'Where's my delivery?' Mostly lookup + driver location query. 95% automatable.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5486400" cy="11887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W3: Dispatch Adjustments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6060"/>
                </a:solidFill>
              </a:rPr>
              <a:t>90/day | 18 min avg | 594 hrs/month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Mid-route changes, driver swaps, diversions. High judgment + route optimization complexity.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34640"/>
            <a:ext cx="5486400" cy="11887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W4: Billing Disputes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6060"/>
                </a:solidFill>
              </a:rPr>
              <a:t>60/day | 28 min avg | 616 hrs/month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Charge disputes, fuel surcharges, credits. High strategic value but legacy Aurum dependency.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5FA3"/>
                </a:solidFill>
              </a:rPr>
              <a:t>Total: 730 interactions/day consuming ~2,589 hours/month (74% of team capacity)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06060"/>
                </a:solidFill>
              </a:rPr>
              <a:t>Analysis Question: Which workstream offers highest volume + lowest risk + fastest ROI?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Decision Matrix: All 4 Workstreams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Workstream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371600"/>
            <a:ext cx="1371600" cy="457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463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Volume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1371600" cy="457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63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Savings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371600"/>
            <a:ext cx="1188720" cy="457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59" y="14630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1463040" cy="457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79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371600"/>
            <a:ext cx="1828800" cy="457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965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W2: ETA Inquiries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1828800"/>
            <a:ext cx="137160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1965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400/day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828800"/>
            <a:ext cx="137160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965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2.8 FTE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828800"/>
            <a:ext cx="11887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1965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828800"/>
            <a:ext cx="146304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1965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1-2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828800"/>
            <a:ext cx="1828800" cy="54864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377440"/>
            <a:ext cx="256032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W1: Exceptions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2377440"/>
            <a:ext cx="13716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2468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180/day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377440"/>
            <a:ext cx="13716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468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2.0 FTE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2377440"/>
            <a:ext cx="118872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468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8400"/>
                </a:solidFill>
              </a:rPr>
              <a:t>MED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2377440"/>
            <a:ext cx="146304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2468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6-12 mo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2377440"/>
            <a:ext cx="18288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6060"/>
                </a:solidFill>
              </a:rPr>
              <a:t>Defer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834640"/>
            <a:ext cx="256032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2926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W4: Billing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2834640"/>
            <a:ext cx="13716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0" y="2926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60/day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2834640"/>
            <a:ext cx="13716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2926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1.5 FTE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2834640"/>
            <a:ext cx="118872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0" y="2926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352A"/>
                </a:solidFill>
              </a:rPr>
              <a:t>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0" y="2834640"/>
            <a:ext cx="146304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3-6 mo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2834640"/>
            <a:ext cx="1828800" cy="457200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291840"/>
            <a:ext cx="256032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3383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W3: Route Changes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3291840"/>
            <a:ext cx="13716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0" y="3383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90/day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3291840"/>
            <a:ext cx="13716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3383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0.9 FTE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60720" y="3291840"/>
            <a:ext cx="118872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52160" y="3383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352A"/>
                </a:solidFill>
              </a:rPr>
              <a:t>HIGH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3291840"/>
            <a:ext cx="146304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40880" y="3383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</a:rPr>
              <a:t>12-18 mo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3291840"/>
            <a:ext cx="18288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352A"/>
                </a:solidFill>
              </a:rPr>
              <a:t>Out of scope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7A3C"/>
                </a:solidFill>
              </a:rPr>
              <a:t>W2 wins: Highest volume + Lowest risk = Fastest trust-building win after 2 prior failures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W2 (ETA Inquiries) Is The Right Phase 1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solidFill>
            <a:srgbClr val="D6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3C"/>
                </a:solidFill>
              </a:rPr>
              <a:t>Technical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2D2D2D"/>
                </a:solidFill>
              </a:rPr>
              <a:t>Highest volume: 400 inquiries/day</a:t>
            </a:r>
          </a:p>
          <a:p>
            <a:pPr/>
            <a:r>
              <a:rPr sz="1400">
                <a:solidFill>
                  <a:srgbClr val="2D2D2D"/>
                </a:solidFill>
              </a:rPr>
              <a:t>95% automation potential - mostly lookup + driver query</a:t>
            </a:r>
          </a:p>
          <a:p>
            <a:pPr/>
            <a:r>
              <a:rPr sz="1400">
                <a:solidFill>
                  <a:srgbClr val="2D2D2D"/>
                </a:solidFill>
              </a:rPr>
              <a:t>Simple integration: CRM REST API available</a:t>
            </a:r>
          </a:p>
          <a:p>
            <a:pPr/>
            <a:r>
              <a:rPr sz="1400">
                <a:solidFill>
                  <a:srgbClr val="2D2D2D"/>
                </a:solidFill>
              </a:rPr>
              <a:t>No legacy dependencies (unlike Aurum billing)</a:t>
            </a:r>
          </a:p>
          <a:p>
            <a:pPr/>
            <a:r>
              <a:rPr sz="1400">
                <a:solidFill>
                  <a:srgbClr val="2D2D2D"/>
                </a:solidFill>
              </a:rPr>
              <a:t>Clear escalation path: driver non-response in 2 min</a:t>
            </a:r>
          </a:p>
          <a:p>
            <a:pPr/>
            <a:r>
              <a:rPr sz="1400">
                <a:solidFill>
                  <a:srgbClr val="2D2D2D"/>
                </a:solidFill>
              </a:rPr>
              <a:t>Saves 558 hours/month (2.8 FTE equivalent)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4114800"/>
          </a:xfrm>
          <a:prstGeom prst="rect">
            <a:avLst/>
          </a:prstGeom>
          <a:solidFill>
            <a:srgbClr val="D6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3C"/>
                </a:solidFill>
              </a:rPr>
              <a:t>Strategic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2D2D2D"/>
                </a:solidFill>
              </a:rPr>
              <a:t>Fastest ROI: 1-2 month payback</a:t>
            </a:r>
          </a:p>
          <a:p>
            <a:pPr/>
            <a:r>
              <a:rPr sz="1400">
                <a:solidFill>
                  <a:srgbClr val="2D2D2D"/>
                </a:solidFill>
              </a:rPr>
              <a:t>Rebuilds trust after 2 failed projects</a:t>
            </a:r>
          </a:p>
          <a:p>
            <a:pPr/>
            <a:r>
              <a:rPr sz="1400">
                <a:solidFill>
                  <a:srgbClr val="2D2D2D"/>
                </a:solidFill>
              </a:rPr>
              <a:t>Proves agent value before tackling complex W4</a:t>
            </a:r>
          </a:p>
          <a:p>
            <a:pPr/>
            <a:r>
              <a:rPr sz="1400">
                <a:solidFill>
                  <a:srgbClr val="2D2D2D"/>
                </a:solidFill>
              </a:rPr>
              <a:t>No chatbot interface - replies via existing channels</a:t>
            </a:r>
          </a:p>
          <a:p>
            <a:pPr/>
            <a:r>
              <a:rPr sz="1400">
                <a:solidFill>
                  <a:srgbClr val="2D2D2D"/>
                </a:solidFill>
              </a:rPr>
              <a:t>Quick operational win validates approach</a:t>
            </a:r>
          </a:p>
          <a:p>
            <a:pPr/>
            <a:r>
              <a:rPr sz="1400">
                <a:solidFill>
                  <a:srgbClr val="2D2D2D"/>
                </a:solidFill>
              </a:rPr>
              <a:t>Low risk = high confidence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2E5FA3"/>
                </a:solidFill>
              </a:rPr>
              <a:t>After W2 success, use proven trust and capability to tackle W4 (billing disputes - higher value, higher complexity)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Not W1 or W3 for Phase 1?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solidFill>
            <a:srgbClr val="FD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C8400"/>
                </a:solidFill>
              </a:rPr>
              <a:t>W1: Delivery Exceptions - DEFERRED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Volume: 180/day | Savings: 2.0 FTE | Risk: MEDIUM | ROI: 6-12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8400"/>
                </a:solidFill>
              </a:rPr>
              <a:t>Why defer: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D2D2D"/>
                </a:solidFill>
              </a:rPr>
              <a:t>Dispatch console has 'limited API surface' - unclear if write access exists</a:t>
            </a:r>
          </a:p>
          <a:p>
            <a:pPr/>
            <a:r>
              <a:rPr sz="1300">
                <a:solidFill>
                  <a:srgbClr val="2D2D2D"/>
                </a:solidFill>
              </a:rPr>
              <a:t>Damage assessment requires human judgment (insurance, shipper coordination)</a:t>
            </a:r>
          </a:p>
          <a:p>
            <a:pPr/>
            <a:r>
              <a:rPr sz="1300">
                <a:solidFill>
                  <a:srgbClr val="2D2D2D"/>
                </a:solidFill>
              </a:rPr>
              <a:t>SOP references retired system (DispatchHub) - documented process outdated</a:t>
            </a:r>
          </a:p>
          <a:p>
            <a:pPr/>
            <a:r>
              <a:rPr sz="1300">
                <a:solidFill>
                  <a:srgbClr val="2D2D2D"/>
                </a:solidFill>
              </a:rPr>
              <a:t>Higher complexity than W2 with similar volume - not worth the risk for 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11247120" cy="2011680"/>
          </a:xfrm>
          <a:prstGeom prst="rect">
            <a:avLst/>
          </a:prstGeom>
          <a:solidFill>
            <a:srgbClr val="F7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F352A"/>
                </a:solidFill>
              </a:rPr>
              <a:t>W3: Dispatch Adjustments - OUT OF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Volume: 90/day | Savings: 0.9 FTE | Risk: HIGH | ROI: 12-18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F352A"/>
                </a:solidFill>
              </a:rPr>
              <a:t>Why out of scope: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D2D2D"/>
                </a:solidFill>
              </a:rPr>
              <a:t>Requires route optimization engine - unknown if exists or has API</a:t>
            </a:r>
          </a:p>
          <a:p>
            <a:pPr/>
            <a:r>
              <a:rPr sz="1300">
                <a:solidFill>
                  <a:srgbClr val="2D2D2D"/>
                </a:solidFill>
              </a:rPr>
              <a:t>Tight time pressure + high judgment (driver swaps, diversions)</a:t>
            </a:r>
          </a:p>
          <a:p>
            <a:pPr/>
            <a:r>
              <a:rPr sz="1300">
                <a:solidFill>
                  <a:srgbClr val="2D2D2D"/>
                </a:solidFill>
              </a:rPr>
              <a:t>Dispatch console API surface must be confirmed before scoping (Discovery Q6)</a:t>
            </a:r>
          </a:p>
          <a:p>
            <a:pPr/>
            <a:r>
              <a:rPr sz="1300">
                <a:solidFill>
                  <a:srgbClr val="2D2D2D"/>
                </a:solidFill>
              </a:rPr>
              <a:t>If API is read-only or non-existent, automation limited to data surfacing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Not W4 (Billing Disputes) for Phase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8400"/>
                </a:solidFill>
              </a:rPr>
              <a:t>W4 has HIGHER strategic value but HIGHER risk - perfect for Phase 2 after W2 proves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828800"/>
          </a:xfrm>
          <a:prstGeom prst="rect">
            <a:avLst/>
          </a:prstGeom>
          <a:solidFill>
            <a:srgbClr val="D6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7A3C"/>
                </a:solidFill>
              </a:rPr>
              <a:t>Why W4 Is Important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D2D2D"/>
                </a:solidFill>
              </a:rPr>
              <a:t>High strategic value: compliance risk reduction</a:t>
            </a:r>
          </a:p>
          <a:p>
            <a:pPr/>
            <a:r>
              <a:rPr sz="1300">
                <a:solidFill>
                  <a:srgbClr val="2D2D2D"/>
                </a:solidFill>
              </a:rPr>
              <a:t>Audit trail gaps found (Sandra credit with no log)</a:t>
            </a:r>
          </a:p>
          <a:p>
            <a:pPr/>
            <a:r>
              <a:rPr sz="1300">
                <a:solidFill>
                  <a:srgbClr val="2D2D2D"/>
                </a:solidFill>
              </a:rPr>
              <a:t>Customer satisfaction impact (28 min avg handling)</a:t>
            </a:r>
          </a:p>
          <a:p>
            <a:pPr/>
            <a:r>
              <a:rPr sz="1300">
                <a:solidFill>
                  <a:srgbClr val="2D2D2D"/>
                </a:solidFill>
              </a:rPr>
              <a:t>Saves 1.5 FTE (308 hours/month)</a:t>
            </a:r>
          </a:p>
          <a:p>
            <a:pPr/>
            <a:r>
              <a:rPr sz="1300">
                <a:solidFill>
                  <a:srgbClr val="2D2D2D"/>
                </a:solidFill>
              </a:rPr>
              <a:t>3-6 month ROI payback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486400" cy="1828800"/>
          </a:xfrm>
          <a:prstGeom prst="rect">
            <a:avLst/>
          </a:prstGeom>
          <a:solidFill>
            <a:srgbClr val="F7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352A"/>
                </a:solidFill>
              </a:rPr>
              <a:t>Why Defer to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D2D2D"/>
                </a:solidFill>
              </a:rPr>
              <a:t>Legacy Aurum billing: NO API, batch-only, 24h lag</a:t>
            </a:r>
          </a:p>
          <a:p>
            <a:pPr/>
            <a:r>
              <a:rPr sz="1300">
                <a:solidFill>
                  <a:srgbClr val="2D2D2D"/>
                </a:solidFill>
              </a:rPr>
              <a:t>Prior RPA broke when Aurum schema changed</a:t>
            </a:r>
          </a:p>
          <a:p>
            <a:pPr/>
            <a:r>
              <a:rPr sz="1300">
                <a:solidFill>
                  <a:srgbClr val="2D2D2D"/>
                </a:solidFill>
              </a:rPr>
              <a:t>Multiple async dependencies (shipper 24-72h, insurance)</a:t>
            </a:r>
          </a:p>
          <a:p>
            <a:pPr/>
            <a:r>
              <a:rPr sz="1300">
                <a:solidFill>
                  <a:srgbClr val="2D2D2D"/>
                </a:solidFill>
              </a:rPr>
              <a:t>Lower volume than W2 (60/day vs 400/day)</a:t>
            </a:r>
          </a:p>
          <a:p>
            <a:pPr/>
            <a:r>
              <a:rPr sz="1300">
                <a:solidFill>
                  <a:srgbClr val="2D2D2D"/>
                </a:solidFill>
              </a:rPr>
              <a:t>Need proven trust before tackling this complexity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11247120" cy="20116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F352A"/>
                </a:solidFill>
              </a:rPr>
              <a:t>The Aurum Constraint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Aurum Billing System (on-prem Oracle, since 2008):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2D2D2D"/>
                </a:solidFill>
              </a:rPr>
              <a:t>Batch-file exports only: Daily 02:00-04:00 GMT to CSV</a:t>
            </a:r>
          </a:p>
          <a:p>
            <a:pPr/>
            <a:r>
              <a:rPr sz="1300">
                <a:solidFill>
                  <a:srgbClr val="2D2D2D"/>
                </a:solidFill>
              </a:rPr>
              <a:t>No real-time API - reconciliation lags 24 hours behind invoice generation</a:t>
            </a:r>
          </a:p>
          <a:p>
            <a:pPr/>
            <a:r>
              <a:rPr sz="1300">
                <a:solidFill>
                  <a:srgbClr val="2D2D2D"/>
                </a:solidFill>
              </a:rPr>
              <a:t>Invoice modifications require manual ticket to Aurum support (48h turnaround)</a:t>
            </a:r>
          </a:p>
          <a:p>
            <a:pPr/>
            <a:r>
              <a:rPr sz="1300">
                <a:solidFill>
                  <a:srgbClr val="2D2D2D"/>
                </a:solidFill>
              </a:rPr>
              <a:t>Schema changes quarterly without notice - broke previous RPA automation</a:t>
            </a:r>
          </a:p>
          <a:p>
            <a:pPr/>
            <a:r>
              <a:rPr sz="1300">
                <a:solidFill>
                  <a:srgbClr val="2D2D2D"/>
                </a:solidFill>
              </a:rPr>
              <a:t>Any Phase 2 billing agent must include schema validation as first-class feature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3 Critical Questions for Sarah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606060"/>
                </a:solidFill>
              </a:rPr>
              <a:t>Answers will materially change the agent design - rated LOW confidence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1188720"/>
          </a:xfrm>
          <a:prstGeom prst="rect">
            <a:avLst/>
          </a:prstGeom>
          <a:solidFill>
            <a:srgbClr val="FD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8400"/>
                </a:solidFill>
              </a:rPr>
              <a:t>Q1: Driver App API Surface - GPS Query or Message-Only?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Can the agent programmatically query driver GPS for real-time location, or must it send a message and wait for driver reply (2 min timeout)?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352A"/>
                </a:solidFill>
              </a:rPr>
              <a:t>Impact: If message-only, response time has 2-min floor. If no API at all, agent becomes lookup-only tool (major capability reduction).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188720"/>
          </a:xfrm>
          <a:prstGeom prst="rect">
            <a:avLst/>
          </a:prstGeom>
          <a:solidFill>
            <a:srgbClr val="FD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8400"/>
                </a:solidFill>
              </a:rPr>
              <a:t>Q2: CRM Status Freshness - Real-time Webhook or Batch?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When a driver scans a package on delivery, how long before that status appears in Salesforce CRM? Immediate (&lt;1 min), polling (5-30 min), or end-of-shift batch?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352A"/>
                </a:solidFill>
              </a:rPr>
              <a:t>Impact: If end-of-day batch, 'out-for-delivery' status is unreliable. Agent cannot distinguish 'in transit' from 'already delivered'. ETA logic breaks - requires full redesign.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47120" cy="1188720"/>
          </a:xfrm>
          <a:prstGeom prst="rect">
            <a:avLst/>
          </a:prstGeom>
          <a:solidFill>
            <a:srgbClr val="FD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8400"/>
                </a:solidFill>
              </a:rPr>
              <a:t>Q3: Sandra Credit Audit Trail Gap - Known Issue or Off-Policy?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</a:rPr>
              <a:t>The £170 Hayes &amp; Sons goodwill credit has no audit log entry. Is this a known gap where manual overrides bypass the export, or was it off-policy?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352A"/>
                </a:solidFill>
              </a:rPr>
              <a:t>Impact: If exports are incomplete, Phase 2 billing agent will misidentify resolved disputes as open. Compliance exposure - credits without audit trail.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Phased Implementation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PHASE 1: ETA Inquiry Agent (W2) - 6-8 Week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2D2D2D"/>
                </a:solidFill>
              </a:rPr>
              <a:t>Scope: Automate 'where's my delivery' inquiries (400/day)</a:t>
            </a:r>
          </a:p>
          <a:p>
            <a:pPr/>
            <a:r>
              <a:rPr sz="1400">
                <a:solidFill>
                  <a:srgbClr val="2D2D2D"/>
                </a:solidFill>
              </a:rPr>
              <a:t>Quick win: Rebuild Sarah's trust after chatbot and RPA failures</a:t>
            </a:r>
          </a:p>
          <a:p>
            <a:pPr/>
            <a:r>
              <a:rPr sz="1400">
                <a:solidFill>
                  <a:srgbClr val="2D2D2D"/>
                </a:solidFill>
              </a:rPr>
              <a:t>Low risk: CRM REST API available, no legacy dependencies</a:t>
            </a:r>
          </a:p>
          <a:p>
            <a:pPr/>
            <a:r>
              <a:rPr sz="1400">
                <a:solidFill>
                  <a:srgbClr val="2D2D2D"/>
                </a:solidFill>
              </a:rPr>
              <a:t>1-2 month ROI payback: 2.8 FTE savings (558 hours/month)</a:t>
            </a:r>
          </a:p>
          <a:p>
            <a:pPr/>
            <a:r>
              <a:rPr sz="1400">
                <a:solidFill>
                  <a:srgbClr val="2D2D2D"/>
                </a:solidFill>
              </a:rPr>
              <a:t>Success metrics: &lt;5 min response, &gt;80% resolution without escalation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474720"/>
            <a:ext cx="10332720" cy="1828800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PHASE 2: Billing Dispute Agent (W4) - After Phase 1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2D2D2D"/>
                </a:solidFill>
              </a:rPr>
              <a:t>Scope: Triage, investigate, and resolve billing disputes (60/day)</a:t>
            </a:r>
          </a:p>
          <a:p>
            <a:pPr/>
            <a:r>
              <a:rPr sz="1400">
                <a:solidFill>
                  <a:srgbClr val="2D2D2D"/>
                </a:solidFill>
              </a:rPr>
              <a:t>Strategic value: Compliance risk reduction + audit trail enforcement</a:t>
            </a:r>
          </a:p>
          <a:p>
            <a:pPr/>
            <a:r>
              <a:rPr sz="1400">
                <a:solidFill>
                  <a:srgbClr val="2D2D2D"/>
                </a:solidFill>
              </a:rPr>
              <a:t>Higher complexity: Aurum batch dependency + schema validation required</a:t>
            </a:r>
          </a:p>
          <a:p>
            <a:pPr/>
            <a:r>
              <a:rPr sz="1400">
                <a:solidFill>
                  <a:srgbClr val="2D2D2D"/>
                </a:solidFill>
              </a:rPr>
              <a:t>3-6 month ROI payback: 1.5 FTE savings + penalty avoidance</a:t>
            </a:r>
          </a:p>
          <a:p>
            <a:pPr/>
            <a:r>
              <a:rPr sz="1400">
                <a:solidFill>
                  <a:srgbClr val="2D2D2D"/>
                </a:solidFill>
              </a:rPr>
              <a:t>Only proceed after Phase 1 proves agent reliability and team buy-in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5FA3"/>
                </a:solidFill>
              </a:rPr>
              <a:t>Bottom Line: Start easy, prove value, then tackle strategic complexity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