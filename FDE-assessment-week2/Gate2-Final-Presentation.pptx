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Apex Distribution Ltd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26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B3A6B"/>
                </a:solidFill>
              </a:rPr>
              <a:t>Gate 2 Assessment: Build ETA Inquiry Agent First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Problem &amp;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B3A6B"/>
                </a:solidFill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>
                <a:solidFill>
                  <a:srgbClr val="2D2D2D"/>
                </a:solidFill>
              </a:rPr>
              <a:t>35 staff handling 730 requests/day</a:t>
            </a:r>
          </a:p>
          <a:p>
            <a:pPr/>
            <a:r>
              <a:rPr sz="1500">
                <a:solidFill>
                  <a:srgbClr val="2D2D2D"/>
                </a:solidFill>
              </a:rPr>
              <a:t>4 work streams analyzed</a:t>
            </a:r>
          </a:p>
          <a:p>
            <a:pPr/>
            <a:r>
              <a:rPr sz="1500">
                <a:solidFill>
                  <a:srgbClr val="2D2D2D"/>
                </a:solidFill>
              </a:rPr>
              <a:t>2 prior automation failures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1371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7A3C"/>
                </a:solidFill>
              </a:rPr>
              <a:t>The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173736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>
                <a:solidFill>
                  <a:srgbClr val="2D2D2D"/>
                </a:solidFill>
              </a:rPr>
              <a:t>Build W2: ETA Agent first</a:t>
            </a:r>
          </a:p>
          <a:p>
            <a:pPr/>
            <a:r>
              <a:rPr sz="1500">
                <a:solidFill>
                  <a:srgbClr val="2D2D2D"/>
                </a:solidFill>
              </a:rPr>
              <a:t>400 inquiries/day automated</a:t>
            </a:r>
          </a:p>
          <a:p>
            <a:pPr/>
            <a:r>
              <a:rPr sz="1500">
                <a:solidFill>
                  <a:srgbClr val="2D2D2D"/>
                </a:solidFill>
              </a:rPr>
              <a:t>1-2 month ROI payback</a:t>
            </a:r>
          </a:p>
          <a:p>
            <a:pPr/>
            <a:r>
              <a:rPr sz="1500">
                <a:solidFill>
                  <a:srgbClr val="2D2D2D"/>
                </a:solidFill>
              </a:rPr>
              <a:t>Low risk, high volume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383280"/>
            <a:ext cx="11247120" cy="22860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6576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7A3C"/>
                </a:solidFill>
              </a:rPr>
              <a:t>Why W2 (ETA Inquiries) Was Chosen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062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500">
                <a:solidFill>
                  <a:srgbClr val="2D2D2D"/>
                </a:solidFill>
              </a:rPr>
              <a:t>Highest volume (400/day) + lowest build risk = fastest win</a:t>
            </a:r>
          </a:p>
          <a:p>
            <a:pPr/>
            <a:r>
              <a:rPr sz="1500">
                <a:solidFill>
                  <a:srgbClr val="2D2D2D"/>
                </a:solidFill>
              </a:rPr>
              <a:t>Simple: Lookup order + ask driver location via CRM API</a:t>
            </a:r>
          </a:p>
          <a:p>
            <a:pPr/>
            <a:r>
              <a:rPr sz="1500">
                <a:solidFill>
                  <a:srgbClr val="2D2D2D"/>
                </a:solidFill>
              </a:rPr>
              <a:t>Saves 2.8 FTE (558 hours/month) - fastest payback</a:t>
            </a:r>
          </a:p>
          <a:p>
            <a:pPr/>
            <a:r>
              <a:rPr sz="1500">
                <a:solidFill>
                  <a:srgbClr val="2D2D2D"/>
                </a:solidFill>
              </a:rPr>
              <a:t>Rebuilds trust after failed chatbot and RPA projects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All 4 Workstreams Compared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2560320" cy="4572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23774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Workstream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3017520" y="1371600"/>
            <a:ext cx="1371600" cy="4572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14630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Volume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1371600"/>
            <a:ext cx="1371600" cy="4572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59" y="146304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Savings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720" y="1371600"/>
            <a:ext cx="1188720" cy="4572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59" y="14630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Risk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40" y="1371600"/>
            <a:ext cx="1463040" cy="4572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040879" y="146304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ROI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0" y="1371600"/>
            <a:ext cx="1828800" cy="457200"/>
          </a:xfrm>
          <a:prstGeom prst="rect">
            <a:avLst/>
          </a:prstGeom>
          <a:solidFill>
            <a:srgbClr val="2E5F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19" y="14630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Decision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828800"/>
            <a:ext cx="2560320" cy="548640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19659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W2: ETA Inquiries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017520" y="1828800"/>
            <a:ext cx="1371600" cy="5486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08960" y="19659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2D2D"/>
                </a:solidFill>
              </a:rPr>
              <a:t>400/day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120" y="1828800"/>
            <a:ext cx="1371600" cy="5486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196596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2D2D2D"/>
                </a:solidFill>
              </a:rPr>
              <a:t>2.8 FTE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60720" y="1828800"/>
            <a:ext cx="1188720" cy="5486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52160" y="196596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7A3C"/>
                </a:solidFill>
              </a:rPr>
              <a:t>LOW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49440" y="1828800"/>
            <a:ext cx="1463040" cy="5486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0" y="196596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7A3C"/>
                </a:solidFill>
              </a:rPr>
              <a:t>1-2 mo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1828800"/>
            <a:ext cx="1828800" cy="548640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03920" y="19659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PHASE 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2377440"/>
            <a:ext cx="2560320" cy="4572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24688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D2D2D"/>
                </a:solidFill>
              </a:rPr>
              <a:t>W1: Exceptions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17520" y="2377440"/>
            <a:ext cx="1371600" cy="4572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08960" y="24688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D2D2D"/>
                </a:solidFill>
              </a:rPr>
              <a:t>180/day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120" y="2377440"/>
            <a:ext cx="1371600" cy="4572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80560" y="24688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D2D2D"/>
                </a:solidFill>
              </a:rPr>
              <a:t>2.0 FTE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760720" y="2377440"/>
            <a:ext cx="1188720" cy="4572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52160" y="246888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8400"/>
                </a:solidFill>
              </a:rPr>
              <a:t>MED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949440" y="2377440"/>
            <a:ext cx="1463040" cy="4572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0" y="246888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D2D2D"/>
                </a:solidFill>
              </a:rPr>
              <a:t>6-12 mo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12480" y="2377440"/>
            <a:ext cx="1828800" cy="4572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03920" y="2468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06060"/>
                </a:solidFill>
              </a:rPr>
              <a:t>Defer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2834640"/>
            <a:ext cx="2560320" cy="4572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29260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D2D2D"/>
                </a:solidFill>
              </a:rPr>
              <a:t>W4: Billing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017520" y="2834640"/>
            <a:ext cx="1371600" cy="4572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108960" y="29260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D2D2D"/>
                </a:solidFill>
              </a:rPr>
              <a:t>60/day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89120" y="2834640"/>
            <a:ext cx="1371600" cy="4572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0560" y="29260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D2D2D"/>
                </a:solidFill>
              </a:rPr>
              <a:t>1.5 FTE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760720" y="2834640"/>
            <a:ext cx="1188720" cy="4572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852160" y="292608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F352A"/>
                </a:solidFill>
              </a:rPr>
              <a:t>HIGH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49440" y="2834640"/>
            <a:ext cx="1463040" cy="4572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040880" y="292608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D2D2D"/>
                </a:solidFill>
              </a:rPr>
              <a:t>3-6 mo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412480" y="2834640"/>
            <a:ext cx="1828800" cy="457200"/>
          </a:xfrm>
          <a:prstGeom prst="rect">
            <a:avLst/>
          </a:prstGeom>
          <a:solidFill>
            <a:srgbClr val="CC8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03920" y="29260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Phase 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3291840"/>
            <a:ext cx="2560320" cy="4572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338328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D2D2D"/>
                </a:solidFill>
              </a:rPr>
              <a:t>W3: Route Changes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017520" y="3291840"/>
            <a:ext cx="1371600" cy="4572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08960" y="33832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D2D2D"/>
                </a:solidFill>
              </a:rPr>
              <a:t>90/day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120" y="3291840"/>
            <a:ext cx="1371600" cy="4572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480560" y="33832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D2D2D"/>
                </a:solidFill>
              </a:rPr>
              <a:t>0.9 FTE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760720" y="3291840"/>
            <a:ext cx="1188720" cy="4572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852160" y="338328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F352A"/>
                </a:solidFill>
              </a:rPr>
              <a:t>HIGH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949440" y="3291840"/>
            <a:ext cx="1463040" cy="4572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040880" y="338328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D2D2D"/>
                </a:solidFill>
              </a:rPr>
              <a:t>12-18 mo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412480" y="3291840"/>
            <a:ext cx="1828800" cy="45720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503920" y="33832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F352A"/>
                </a:solidFill>
              </a:rPr>
              <a:t>Out of scope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31520" y="411480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3A6B"/>
                </a:solidFill>
              </a:rPr>
              <a:t>Why not W1, W3, W4?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4400" y="448056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400">
                <a:solidFill>
                  <a:srgbClr val="2D2D2D"/>
                </a:solidFill>
              </a:rPr>
              <a:t>W1: Dispatch console API limited - MEDIUM risk</a:t>
            </a:r>
          </a:p>
          <a:p>
            <a:pPr/>
            <a:r>
              <a:rPr sz="1400">
                <a:solidFill>
                  <a:srgbClr val="2D2D2D"/>
                </a:solidFill>
              </a:rPr>
              <a:t>W4: Legacy Aurum billing has NO API, 24h lag - HIGH risk, defer to Phase 2</a:t>
            </a:r>
          </a:p>
          <a:p>
            <a:pPr/>
            <a:r>
              <a:rPr sz="1400">
                <a:solidFill>
                  <a:srgbClr val="2D2D2D"/>
                </a:solidFill>
              </a:rPr>
              <a:t>W3: Route optimization complex, needs judgment - OUT OF SCOPE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BF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3 Critical Questions for Sarah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606060"/>
                </a:solidFill>
              </a:rPr>
              <a:t>Answers will change the agent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11247120" cy="1188720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C8400"/>
                </a:solidFill>
              </a:rPr>
              <a:t>Q1: Driver App API - GPS Query or Message-Only?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945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D2D2D"/>
                </a:solidFill>
              </a:rPr>
              <a:t>Can agent query GPS directly, or must it message driver and wait 2 min? If no API, agent is lookup-only.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017520"/>
            <a:ext cx="11247120" cy="1188720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2004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C8400"/>
                </a:solidFill>
              </a:rPr>
              <a:t>Q2: CRM Status Freshness - Real-time or Batch?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661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D2D2D"/>
                </a:solidFill>
              </a:rPr>
              <a:t>How long after driver scan does status appear in Salesforce? If end-of-day batch, ETA logic breaks.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389120"/>
            <a:ext cx="11247120" cy="1188720"/>
          </a:xfrm>
          <a:prstGeom prst="rect">
            <a:avLst/>
          </a:prstGeom>
          <a:solidFill>
            <a:srgbClr val="FDF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572000"/>
            <a:ext cx="10789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C8400"/>
                </a:solidFill>
              </a:rPr>
              <a:t>Q3: Sandra Credit Audit Gap - Known Issue?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93776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D2D2D"/>
                </a:solidFill>
              </a:rPr>
              <a:t>£170 credit has no audit log. If exports are incomplete, Phase 2 billing agent will fail. Compliance risk.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Implementation Strategy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645920"/>
            <a:ext cx="10332720" cy="1645920"/>
          </a:xfrm>
          <a:prstGeom prst="rect">
            <a:avLst/>
          </a:prstGeom>
          <a:solidFill>
            <a:srgbClr val="1A7A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82880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PHASE 1: Build ETA Inquiry Agent (W2)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2860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>
                <a:solidFill>
                  <a:srgbClr val="2D2D2D"/>
                </a:solidFill>
              </a:rPr>
              <a:t>Quick operational win - rebuild trust after 2 failures</a:t>
            </a:r>
          </a:p>
          <a:p>
            <a:pPr/>
            <a:r>
              <a:rPr sz="1600">
                <a:solidFill>
                  <a:srgbClr val="2D2D2D"/>
                </a:solidFill>
              </a:rPr>
              <a:t>400 inquiries/day automated - 2.8 FTE freed</a:t>
            </a:r>
          </a:p>
          <a:p>
            <a:pPr/>
            <a:r>
              <a:rPr sz="1600">
                <a:solidFill>
                  <a:srgbClr val="2D2D2D"/>
                </a:solidFill>
              </a:rPr>
              <a:t>1-2 month ROI payback - prove value fast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566160"/>
            <a:ext cx="10332720" cy="1645920"/>
          </a:xfrm>
          <a:prstGeom prst="rect">
            <a:avLst/>
          </a:prstGeom>
          <a:solidFill>
            <a:srgbClr val="CC8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3749039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PHASE 2: Billing Disputes Agent (W4)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2062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>
                <a:solidFill>
                  <a:srgbClr val="2D2D2D"/>
                </a:solidFill>
              </a:rPr>
              <a:t>Higher strategic value - compliance risk reduction</a:t>
            </a:r>
          </a:p>
          <a:p>
            <a:pPr/>
            <a:r>
              <a:rPr sz="1600">
                <a:solidFill>
                  <a:srgbClr val="2D2D2D"/>
                </a:solidFill>
              </a:rPr>
              <a:t>Only after Phase 1 proves success - higher complexity</a:t>
            </a:r>
          </a:p>
          <a:p>
            <a:pPr/>
            <a:r>
              <a:rPr sz="1600">
                <a:solidFill>
                  <a:srgbClr val="2D2D2D"/>
                </a:solidFill>
              </a:rPr>
              <a:t>Address legacy Aurum constraints with validated approach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692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2E5FA3"/>
                </a:solidFill>
              </a:rPr>
              <a:t>Bottom Line: Start with easy, high-volume win before tackling harder strategic problems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