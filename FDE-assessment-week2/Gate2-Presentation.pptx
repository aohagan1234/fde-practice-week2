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23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78608"/>
            <a:ext cx="12188952" cy="64008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CCEE"/>
                </a:solidFill>
              </a:rPr>
              <a:t>APEX DISTRIBUTION LTD  ·  GATE 2  ·  CUSTOMER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ETA Inquiry Agent
Before. After.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EE"/>
                </a:solidFill>
              </a:rPr>
              <a:t>A 4-minute analysis of W2 — what 400 inquiries a day actually costs, what the redesigned process looks like, and why each delegation call is safe.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572000"/>
            <a:ext cx="4114800" cy="1572768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645152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26.7 person-hours /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084064"/>
            <a:ext cx="3840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400 inquiries × 4 min avg
= 3.3 FTE doing database lookups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4681728"/>
            <a:ext cx="6675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CCEE"/>
                </a:solidFill>
              </a:rPr>
              <a:t>Target:  agent handles &gt;80% autonomously</a:t>
            </a:r>
          </a:p>
          <a:p>
            <a:pPr algn="l"/>
            <a:r>
              <a:rPr sz="1200" b="0" i="0">
                <a:solidFill>
                  <a:srgbClr val="BBCCEE"/>
                </a:solidFill>
              </a:rPr>
              <a:t>2.8 FTE freed  ·  1–2 month payback  ·  6 weeks to production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8899BB"/>
                </a:solidFill>
              </a:rPr>
              <a:t>Presenter: Ann O'Hagan  ·  2026-05-06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Before — The Current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Where the time goes, where the cognitive load sits, where it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2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34924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930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Zone A — Status lookup  (~1 min, deterministic)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45920"/>
            <a:ext cx="5349240" cy="1847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Agent looks up consignment in Salesforce CRM.</a:t>
            </a:r>
          </a:p>
          <a:p>
            <a:pPr algn="l"/>
            <a:r>
              <a:rPr sz="1100" b="0" i="0">
                <a:solidFill>
                  <a:srgbClr val="2D2D2D"/>
                </a:solidFill>
              </a:rPr>
              <a:t>Reads a status: pre-dispatch / out-for-delivery / delivered / exception.</a:t>
            </a:r>
          </a:p>
          <a:p>
            <a:pPr algn="l"/>
            <a:r>
              <a:rPr sz="500" b="0" i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100" b="1" i="0">
                <a:solidFill>
                  <a:srgbClr val="1B3A6B"/>
                </a:solidFill>
              </a:rPr>
              <a:t>No judgment required. This is a database query.</a:t>
            </a:r>
          </a:p>
          <a:p>
            <a:pPr algn="l"/>
            <a:r>
              <a:rPr sz="500" b="0" i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000" b="0" i="1">
                <a:solidFill>
                  <a:srgbClr val="606060"/>
                </a:solidFill>
              </a:rPr>
              <a:t>Data source: Salesforce CRM REST API  ·  5–10 min sync lag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621024"/>
            <a:ext cx="5349240" cy="384048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4845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Zone B — ETA decision &amp; driver sync  (1–3 min, where load sits)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005072"/>
            <a:ext cx="5349240" cy="2624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50791"/>
            <a:ext cx="50749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If status = out-for-delivery, agent needs a tighter ETA.</a:t>
            </a:r>
          </a:p>
          <a:p>
            <a:pPr algn="l"/>
            <a:r>
              <a:rPr sz="1100" b="0" i="0">
                <a:solidFill>
                  <a:srgbClr val="2D2D2D"/>
                </a:solidFill>
              </a:rPr>
              <a:t>Today: manually contact dispatch → dispatch contacts driver → wait.</a:t>
            </a:r>
          </a:p>
          <a:p>
            <a:pPr algn="l"/>
            <a:r>
              <a:rPr sz="500" b="0" i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100" b="1" i="0">
                <a:solidFill>
                  <a:srgbClr val="1B3A6B"/>
                </a:solidFill>
              </a:rPr>
              <a:t>Artefact 3 evidence:</a:t>
            </a:r>
          </a:p>
          <a:p>
            <a:pPr algn="l"/>
            <a:r>
              <a:rPr sz="1100" b="0" i="0">
                <a:solidFill>
                  <a:srgbClr val="2D2D2D"/>
                </a:solidFill>
              </a:rPr>
              <a:t>Customer asked at 11:14. Agent checked dispatch at 11:19.</a:t>
            </a:r>
          </a:p>
          <a:p>
            <a:pPr algn="l"/>
            <a:r>
              <a:rPr sz="1100" b="0" i="0">
                <a:solidFill>
                  <a:srgbClr val="2D2D2D"/>
                </a:solidFill>
              </a:rPr>
              <a:t>Best-guess reply sent at 11:24. 10 minutes. Manual GPS ping.</a:t>
            </a:r>
          </a:p>
          <a:p>
            <a:pPr algn="l"/>
            <a:r>
              <a:rPr sz="1100" b="0" i="0">
                <a:solidFill>
                  <a:srgbClr val="2D2D2D"/>
                </a:solidFill>
              </a:rPr>
              <a:t>Customer got a 4-hour window and wanted something tighter.</a:t>
            </a:r>
          </a:p>
          <a:p>
            <a:pPr algn="l"/>
            <a:r>
              <a:rPr sz="500" b="0" i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100" b="1" i="0">
                <a:solidFill>
                  <a:srgbClr val="BF352A"/>
                </a:solidFill>
              </a:rPr>
              <a:t>Driver non-response is routine — not an edge case.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261872"/>
            <a:ext cx="5971032" cy="384048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289304"/>
            <a:ext cx="5742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Where it breaks — 4 failure modes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719072"/>
            <a:ext cx="347472" cy="1078992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1719072"/>
            <a:ext cx="56235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792224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CRM 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03120"/>
            <a:ext cx="5376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Status is 5–10 min behind reality. Driver may have already delivered when agent says 'out-for-delivery.'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2907791"/>
            <a:ext cx="347472" cy="1078992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2907791"/>
            <a:ext cx="56235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980944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No deduplication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291839"/>
            <a:ext cx="5376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Same customer asks twice in an hour → two separate driver queries. No memory across inquiries.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4096512"/>
            <a:ext cx="347472" cy="1078992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4096512"/>
            <a:ext cx="56235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4169664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4-hour window dissatisfies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480560"/>
            <a:ext cx="5376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The SOP answer (13:00–17:00) frustrates customers. Tighter ETA requires the 10-minute manual process above.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5285232"/>
            <a:ext cx="347472" cy="1078992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45352" y="5285232"/>
            <a:ext cx="56235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5358384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SOP is stale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5669280"/>
            <a:ext cx="5376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Section 4.2 references DispatchHub — retired October 2024. Section 4.3 says 'TBD pending review.' Not updated since Oct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After — The Redesigned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Three layers. Explicit about which steps are agentic, which are hybrid, which are human.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3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3794760" cy="65836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89304"/>
            <a:ext cx="3611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WORKFLOW LAYER
Fully agentic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3794760" cy="3931920"/>
          </a:xfrm>
          <a:prstGeom prst="rect">
            <a:avLst/>
          </a:prstGeom>
          <a:solidFill>
            <a:srgbClr val="D6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9933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Consignment ID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4505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CRM lookup (Salesforce REST 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9077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Status = Delivered → template reply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3649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Status = Pre-dispatch → template reply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822191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Status = Exception → escalate to dispatcher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42793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Status = Null → escalate (data error)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7365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Inquiry deduplication (1h cache)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51937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Detect explicit tight-ETA request
(keyword match — deterministic rule)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852160"/>
            <a:ext cx="3794760" cy="74980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5888736"/>
            <a:ext cx="3611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</a:rPr>
              <a:t>~80% of all inquiries close here
No LLM. No judgment. A rule engine.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8536" y="1261872"/>
            <a:ext cx="3794760" cy="658368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289304"/>
            <a:ext cx="3611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AGENT LAYER
Agent-led, human on exceptions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8536" y="1920240"/>
            <a:ext cx="3794760" cy="3931920"/>
          </a:xfrm>
          <a:prstGeom prst="rect">
            <a:avLst/>
          </a:prstGeom>
          <a:solidFill>
            <a:srgbClr val="FD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7" y="19933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Contact driver via driver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7" y="24505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Wait up to 2 min for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7" y="29077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GPS mode → calculate tight ETA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7" y="33649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MSG mode → confirm 'on track' +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7" y="3822191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No response → send fallback 13:00–17:00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7" y="42793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Explicit tight-ETA request → escalate
to dispatcher (10% optional path)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88536" y="5852160"/>
            <a:ext cx="3794760" cy="749808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98264" y="5888736"/>
            <a:ext cx="3611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</a:rPr>
              <a:t>Driver contact is async + best-effort.
Fallback is primary path, not failure mode.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57031" y="1261872"/>
            <a:ext cx="3794760" cy="658368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1289304"/>
            <a:ext cx="3611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HUMAN LAYER
Human-led, agent surfaces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57031" y="1920240"/>
            <a:ext cx="3794760" cy="3931920"/>
          </a:xfrm>
          <a:prstGeom prst="rect">
            <a:avLst/>
          </a:prstGeom>
          <a:solidFill>
            <a:srgbClr val="F7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21624" y="19933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Consignment not found in CRM
→ manual records check (paper/email)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24505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Exception flag
→ dispatcher decides next step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4" y="290779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• Null status
→ IT investigates CRM sync issue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57031" y="5852160"/>
            <a:ext cx="3794760" cy="749808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59" y="5888736"/>
            <a:ext cx="3611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</a:rPr>
              <a:t>Not because the lookup is hard.
Because what happens NEXT
requires dispatcher judgment.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— Defending the 3 Delegation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Each boundary is a deliberate choice, not a default. Here is the rationale.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4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" cy="167335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61872"/>
            <a:ext cx="11347704" cy="38404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07592"/>
            <a:ext cx="11082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Driver non-response → fallback is FULLY AGENTIC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1645919"/>
            <a:ext cx="11347704" cy="1289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Claim: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7007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</a:rPr>
              <a:t>The fallback is a timeout rule, not a runtime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75104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Because if two minutes pass with no driver response, send the template. The trigger is a clock. The message is pre-approved. There is no judgment — the human made the judgment when they approved the protocol. Moving this to human-in-the-loop adds 3–5 minutes and breaks the SLA.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170078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Risk if wrong: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1975104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Stale ETA sent. Customer gets 4h window when driver was 10 min away. Reputational, not regulatory. Accepted as a known, bounded trade-off.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63239"/>
            <a:ext cx="201168" cy="1673352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7" y="3063239"/>
            <a:ext cx="11347704" cy="384048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08959"/>
            <a:ext cx="11082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Consignment lookup → WORKFLOW ENGINE, not LLM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3447287"/>
            <a:ext cx="11347704" cy="1289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50215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Claim: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50215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</a:rPr>
              <a:t>This is a switch statement on 5 enum values. LLM adds zero value 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776472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CRM returns a status: pre-dispatch / out-for-delivery / delivered / exception / null. The agent selects a template. No natural language reasoning. No ambiguity. Hallucination risk on an LLM call is real; it is zero on a database query. An event-driven API wrapper is faster, cheaper, and strictly safer.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3502151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Risk if wrong: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776472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None — if the CRM returns a status the workflow doesn't recognise, it escalates to human rather than guessing. The failure mode is safe by design.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864608"/>
            <a:ext cx="201168" cy="1673352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7" y="4864608"/>
            <a:ext cx="11347704" cy="384048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910328"/>
            <a:ext cx="11082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Exception flag → HUMAN-LED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7" y="5248656"/>
            <a:ext cx="11347704" cy="1289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303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Claim: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</a:rPr>
              <a:t>Not because the lookup is hard — because the next step requires judgment.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7784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The exception reason is in CRM. The agent can read it. What the agent cannot do is decide what happens next: retry tomorrow? Insurance claim? Goodwill credit? Those decisions require knowledge of customer history, dispatcher availability, and insurance pre-auth that no deterministic rule can encode. Agent surfaces the data. Dispatcher makes the call.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53035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</a:rPr>
              <a:t>Risk if wrong: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557784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High. Exception handling is the work stream most likely to escalate into a customer complaint or contract dispute. Keeping the human in the loop here is not a failure of ambition — it is the correct delegation call.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Assumptions &amp;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What the design depends on — and what would change if the answer is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5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216152"/>
            <a:ext cx="11475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D2D2D"/>
                </a:solidFill>
              </a:rPr>
              <a:t>Three questions must be answered before Phase 1 build starts. Each one changes the architecture, not just a configuration value.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3401568" cy="347472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739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Q1 — Driver app API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17739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352A"/>
                </a:solidFill>
              </a:rPr>
              <a:t>LOW confidence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84831"/>
            <a:ext cx="379476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10312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</a:rPr>
              <a:t>If: GPS API exists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40864"/>
            <a:ext cx="3794760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377439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Agent calculates tight ETA in &lt;30 sec. 2-min wait protocol is unnecessary. Response time improves.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8536" y="2084831"/>
            <a:ext cx="379476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210312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</a:rPr>
              <a:t>If: Message-only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8536" y="2340864"/>
            <a:ext cx="3794760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8264" y="2377439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2-min wait + fallback is correct. Keep spec as is. SLA floor is ~3 min, not ~1 min.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1" y="2084831"/>
            <a:ext cx="379476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210312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</a:rPr>
              <a:t>If: No API at 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57031" y="2340864"/>
            <a:ext cx="3794760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2377439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Agent becomes a CRM lookup tool only. Significant capability reduction. Phase 1 scope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310128"/>
            <a:ext cx="3401568" cy="347472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3467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Q2 — CRM status freshness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3346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8400"/>
                </a:solidFill>
              </a:rPr>
              <a:t>MEDIUM confidence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57600"/>
            <a:ext cx="379476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675888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</a:rPr>
              <a:t>If: Real-time (&lt;1 min)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13632"/>
            <a:ext cx="3794760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395020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Agent can trust CRM status. ETA accuracy limited only by driver location freshness.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88536" y="3657600"/>
            <a:ext cx="379476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8264" y="3675888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</a:rPr>
              <a:t>If: 5–30 min polling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8536" y="3913632"/>
            <a:ext cx="3794760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8264" y="395020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Agent must include staleness disclaimer in every response. ±15 min accuracy target may need widening.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57031" y="3657600"/>
            <a:ext cx="379476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59" y="3675888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</a:rPr>
              <a:t>If: End-of-shift batch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57031" y="3913632"/>
            <a:ext cx="3794760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59" y="395020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Core ETA logic breaks — agent cannot distinguish 'in transit' from 'delivered but not updated.' Full redesign required.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882896"/>
            <a:ext cx="3401568" cy="347472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919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Q3 — Sandra credit audit gap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67328" y="4919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6B2A"/>
                </a:solidFill>
              </a:rPr>
              <a:t>LOW confidence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230368"/>
            <a:ext cx="379476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" y="524865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</a:rPr>
              <a:t>If: Known gap — overrides bypass export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486400"/>
            <a:ext cx="3794760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" y="552297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APEX_CREDITS is incomplete. Phase 2 billing agent will misidentify open disputes. Compliance exposure.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88536" y="5230368"/>
            <a:ext cx="379476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98264" y="524865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</a:rPr>
              <a:t>If: Off-policy (Sandra shouldn't)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5486400"/>
            <a:ext cx="3794760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98264" y="552297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Audit trail is theoretically intact. Phase 2 agent enforces structured path — closes gap automatically.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57031" y="5230368"/>
            <a:ext cx="379476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59" y="524865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</a:rPr>
              <a:t>If: Export is complete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57031" y="5486400"/>
            <a:ext cx="3794760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6759" y="552297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</a:rPr>
              <a:t>Internal note is wrong or refers to a lag. Lower risk — timing issue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The recommendation in three lines — and what we need from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6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154887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984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29844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27632"/>
            <a:ext cx="1154887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0078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</a:rPr>
              <a:t>Volume handled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0078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400/day, all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0078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7A3C"/>
                </a:solidFill>
              </a:rPr>
              <a:t>320+/day autonomous (&gt;80%)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70078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</a:rPr>
              <a:t>−80% manual 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21408"/>
            <a:ext cx="11548872" cy="49377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945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</a:rPr>
              <a:t>Avg response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19456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4 min (P50)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9456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7A3C"/>
                </a:solidFill>
              </a:rPr>
              <a:t>&lt;3 min (P50)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19456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</a:rPr>
              <a:t>Faster on most paths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15184"/>
            <a:ext cx="1154887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883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</a:rPr>
              <a:t>Driver contact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883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Manual via dispatch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6883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7A3C"/>
                </a:solidFill>
              </a:rPr>
              <a:t>Direct via driver app (async)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68833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</a:rPr>
              <a:t>Removes dispatch as bottleneck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108960"/>
            <a:ext cx="11548872" cy="49377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8211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</a:rPr>
              <a:t>Duplicate queries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18211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No deduplication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18211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7A3C"/>
                </a:solidFill>
              </a:rPr>
              <a:t>1h cache — same inquiry =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318211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</a:rPr>
              <a:t>Eliminates duplicate driver pings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02736"/>
            <a:ext cx="1154887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67588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</a:rPr>
              <a:t>FTE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67588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3.3 FTE on ETA alone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67588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7A3C"/>
                </a:solidFill>
              </a:rPr>
              <a:t>2.8 FTE freed for redeployment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67588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</a:rPr>
              <a:t>£140K/month redeployment 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096512"/>
            <a:ext cx="11548872" cy="49377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16966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</a:rPr>
              <a:t>ROI payback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16966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06060"/>
                </a:solidFill>
              </a:rPr>
              <a:t>N/A (no agent)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16966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7A3C"/>
                </a:solidFill>
              </a:rPr>
              <a:t>1–2 months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41696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3A6B"/>
                </a:solidFill>
              </a:rPr>
              <a:t>Low build risk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681728"/>
            <a:ext cx="11548872" cy="36576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70916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Three things needed before build starts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047488"/>
            <a:ext cx="475488" cy="160020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047488"/>
            <a:ext cx="47548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8" y="5047488"/>
            <a:ext cx="3364992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" y="5120640"/>
            <a:ext cx="3182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Driver app API surface — GPS, message-only, or no API? Controls the entire Phase 1 architecture.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78807" y="5047488"/>
            <a:ext cx="475488" cy="160020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78807" y="5047488"/>
            <a:ext cx="47548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54296" y="5047488"/>
            <a:ext cx="3364992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45736" y="5120640"/>
            <a:ext cx="3182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CRM status freshness — seconds, minutes, or batch? Changes the accuracy claim and staleness disclaimer.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37575" y="5047488"/>
            <a:ext cx="475488" cy="160020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37575" y="5047488"/>
            <a:ext cx="47548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13063" y="5047488"/>
            <a:ext cx="3364992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04503" y="5120640"/>
            <a:ext cx="3182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Credits audit trail gap — systemic or one-off? Determines whether APEX_CREDITS is a reliable data source for Phase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