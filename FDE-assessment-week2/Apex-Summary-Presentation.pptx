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3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 OHagan" userId="2bf28d75-9562-4616-8f1f-cbeee2654bcd" providerId="ADAL" clId="{3FECF594-1551-4272-9A77-6B92FFE371B2}"/>
    <pc:docChg chg="modSld">
      <pc:chgData name="Ann OHagan" userId="2bf28d75-9562-4616-8f1f-cbeee2654bcd" providerId="ADAL" clId="{3FECF594-1551-4272-9A77-6B92FFE371B2}" dt="2026-05-06T12:42:02.577" v="0" actId="20577"/>
      <pc:docMkLst>
        <pc:docMk/>
      </pc:docMkLst>
      <pc:sldChg chg="modSp mod">
        <pc:chgData name="Ann OHagan" userId="2bf28d75-9562-4616-8f1f-cbeee2654bcd" providerId="ADAL" clId="{3FECF594-1551-4272-9A77-6B92FFE371B2}" dt="2026-05-06T12:42:02.577" v="0" actId="20577"/>
        <pc:sldMkLst>
          <pc:docMk/>
          <pc:sldMk cId="0" sldId="257"/>
        </pc:sldMkLst>
        <pc:spChg chg="mod">
          <ac:chgData name="Ann OHagan" userId="2bf28d75-9562-4616-8f1f-cbeee2654bcd" providerId="ADAL" clId="{3FECF594-1551-4272-9A77-6B92FFE371B2}" dt="2026-05-06T12:42:02.577" v="0" actId="20577"/>
          <ac:spMkLst>
            <pc:docMk/>
            <pc:sldMk cId="0" sldId="257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Apex Distribution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B3A6B"/>
                </a:solidFill>
              </a:rPr>
              <a:t>Agentic Transformation Assessment — Gate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2E5FA3"/>
                </a:solidFill>
              </a:rPr>
              <a:t>Recommendation: Build ETA Inquiry Agent (W2) 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B3A6B"/>
                </a:solidFill>
              </a:rPr>
              <a:t>Apex Distribution Ltd — Birmingham, UK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dirty="0">
                <a:solidFill>
                  <a:srgbClr val="2D2D2D"/>
                </a:solidFill>
              </a:rPr>
              <a:t>35-person Customer Operations team overwhelmed</a:t>
            </a:r>
          </a:p>
          <a:p>
            <a:r>
              <a:rPr sz="1800" dirty="0">
                <a:solidFill>
                  <a:srgbClr val="2D2D2D"/>
                </a:solidFill>
              </a:rPr>
              <a:t>Handling 730 customer requests daily</a:t>
            </a:r>
          </a:p>
          <a:p>
            <a:r>
              <a:rPr sz="1800" dirty="0">
                <a:solidFill>
                  <a:srgbClr val="2D2D2D"/>
                </a:solidFill>
              </a:rPr>
              <a:t>Previous automation attempts failed (2024 chatbot, RPA project)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4 Workstreams Analyzed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486400" cy="1097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</a:rPr>
              <a:t>W1: Delivery Exceptions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</a:rPr>
              <a:t>180/day | Damaged packages, refusals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371600"/>
            <a:ext cx="5486400" cy="109728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0" y="15544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W2: ETA Inquiries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400/day | 'Where's my delivery?'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43200"/>
            <a:ext cx="5486400" cy="1097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</a:rPr>
              <a:t>W3: Route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</a:rPr>
              <a:t>90/day | Mid-delivery adjustments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743200"/>
            <a:ext cx="5486400" cy="109728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0" y="29260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B3A6B"/>
                </a:solidFill>
              </a:rPr>
              <a:t>W4: Billing Disputes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00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</a:rPr>
              <a:t>60/day | Customer charge disputes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E5FA3"/>
                </a:solidFill>
              </a:rPr>
              <a:t>Analysis Criteria: Volume × Automation Potential × Build Risk × ROI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Why W2 (ETA Inquiries) Was Chosen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7A3C"/>
                </a:solidFill>
              </a:rPr>
              <a:t>Highest Volume + Lowest Risk = Fastest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2D2D2D"/>
                </a:solidFill>
              </a:rPr>
              <a:t>400 requests/day — Biggest time drain (558 hours/month)</a:t>
            </a:r>
          </a:p>
          <a:p>
            <a:r>
              <a:rPr sz="1800">
                <a:solidFill>
                  <a:srgbClr val="2D2D2D"/>
                </a:solidFill>
              </a:rPr>
              <a:t>Simple to build — Lookup order + ask driver for location</a:t>
            </a:r>
          </a:p>
          <a:p>
            <a:r>
              <a:rPr sz="1800">
                <a:solidFill>
                  <a:srgbClr val="2D2D2D"/>
                </a:solidFill>
              </a:rPr>
              <a:t>Works with existing systems — Modern CRM has API available</a:t>
            </a:r>
          </a:p>
          <a:p>
            <a:r>
              <a:rPr sz="1800">
                <a:solidFill>
                  <a:srgbClr val="2D2D2D"/>
                </a:solidFill>
              </a:rPr>
              <a:t>Fastest ROI — Pays back in 1-2 months</a:t>
            </a:r>
          </a:p>
          <a:p>
            <a:r>
              <a:rPr sz="1800">
                <a:solidFill>
                  <a:srgbClr val="2D2D2D"/>
                </a:solidFill>
              </a:rPr>
              <a:t>Saves 2.8 FTE worth of work — Team can redeploy capacity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Why Not W1, W3, or W4?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solidFill>
            <a:srgbClr val="FDF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C8400"/>
                </a:solidFill>
              </a:rPr>
              <a:t>W1: Delivery Exceptions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• Dispatch system has limited API access — build risk MEDIUM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11247120" cy="914400"/>
          </a:xfrm>
          <a:prstGeom prst="rect">
            <a:avLst/>
          </a:prstGeom>
          <a:solidFill>
            <a:srgbClr val="F7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F352A"/>
                </a:solidFill>
              </a:rPr>
              <a:t>W3: Route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• Route optimization too complex, needs human judgment — build risk HIGH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11247120" cy="1188720"/>
          </a:xfrm>
          <a:prstGeom prst="rect">
            <a:avLst/>
          </a:prstGeom>
          <a:solidFill>
            <a:srgbClr val="F7DC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74903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F352A"/>
                </a:solidFill>
              </a:rPr>
              <a:t>W4: Billing Disputes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23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• Old billing system (Aurum) has NO API, 24-hour data lag, breaks when updated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• Higher strategic value (compliance) but too risky for Phase 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Decision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286000" cy="4572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Workstream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371600"/>
            <a:ext cx="1645920" cy="4572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34640" y="1463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Volume/Day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1645920" cy="4572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463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Time Savings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371600"/>
            <a:ext cx="1645920" cy="4572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Build Risk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80960" y="1371600"/>
            <a:ext cx="1828800" cy="4572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463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ROI Payback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509760" y="1371600"/>
            <a:ext cx="2194560" cy="4572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0" y="14630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Decision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828800"/>
            <a:ext cx="2286000" cy="54864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19202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W2: ETA Inquiries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1828800"/>
            <a:ext cx="164592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34640" y="1965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400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1828800"/>
            <a:ext cx="164592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1965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2.8 FTE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1828800"/>
            <a:ext cx="164592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0" y="1965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3C"/>
                </a:solidFill>
              </a:rPr>
              <a:t>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1828800"/>
            <a:ext cx="182880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0" y="1965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7A3C"/>
                </a:solidFill>
              </a:rPr>
              <a:t>1-2 months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09760" y="1828800"/>
            <a:ext cx="2194560" cy="54864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601200" y="19659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✓ PHASE 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377440"/>
            <a:ext cx="228600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24688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W1: Exceptions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2377440"/>
            <a:ext cx="164592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834640" y="2514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180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89120" y="2377440"/>
            <a:ext cx="164592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80560" y="2514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2.0 FTE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35040" y="2377440"/>
            <a:ext cx="164592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126480" y="251460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8400"/>
                </a:solidFill>
              </a:rPr>
              <a:t>MEDIUM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680960" y="2377440"/>
            <a:ext cx="182880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772400" y="2514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6-12 months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509760" y="2377440"/>
            <a:ext cx="219456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01200" y="25146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</a:rPr>
              <a:t>Defer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2926080"/>
            <a:ext cx="228600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3017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W4: Billing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0" y="2926080"/>
            <a:ext cx="164592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34640" y="3063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60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2926080"/>
            <a:ext cx="164592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80560" y="3063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1.5 FTE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35040" y="2926080"/>
            <a:ext cx="164592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126480" y="30632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352A"/>
                </a:solidFill>
              </a:rPr>
              <a:t>HIGH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680960" y="2926080"/>
            <a:ext cx="182880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772400" y="30632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3-6 months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09760" y="2926080"/>
            <a:ext cx="2194560" cy="548640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01200" y="3063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3474720"/>
            <a:ext cx="228600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" y="3566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W3: Route Changes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0" y="3474720"/>
            <a:ext cx="164592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834640" y="361187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90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389120" y="3474720"/>
            <a:ext cx="164592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4480560" y="361187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0.9 FTE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035040" y="3474720"/>
            <a:ext cx="164592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126480" y="361187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352A"/>
                </a:solidFill>
              </a:rPr>
              <a:t>HIGH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680960" y="3474720"/>
            <a:ext cx="182880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772400" y="3611879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D2D2D"/>
                </a:solidFill>
              </a:rPr>
              <a:t>12-18 months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09760" y="3474720"/>
            <a:ext cx="2194560" cy="54864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601200" y="3611879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352A"/>
                </a:solidFill>
              </a:rPr>
              <a:t>Out of scope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Implementation Strategy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Phase 1: Build ETA Inquiry Agent (W2)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Quick win to rebuild trust after 2 failed automation attempts</a:t>
            </a:r>
          </a:p>
          <a:p>
            <a:r>
              <a:rPr sz="1600">
                <a:solidFill>
                  <a:srgbClr val="2D2D2D"/>
                </a:solidFill>
              </a:rPr>
              <a:t>Prove the technology works with lowest-risk, highest-volume use case</a:t>
            </a:r>
          </a:p>
          <a:p>
            <a:r>
              <a:rPr sz="1600">
                <a:solidFill>
                  <a:srgbClr val="2D2D2D"/>
                </a:solidFill>
              </a:rPr>
              <a:t>1-2 month payback — fast ROI demonstration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17520"/>
            <a:ext cx="11247120" cy="1371600"/>
          </a:xfrm>
          <a:prstGeom prst="rect">
            <a:avLst/>
          </a:prstGeom>
          <a:solidFill>
            <a:srgbClr val="CC8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Phase 2: Tackle Billing Disputes (W4)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2D2D2D"/>
                </a:solidFill>
              </a:rPr>
              <a:t>More strategic (compliance risk reduction)</a:t>
            </a:r>
          </a:p>
          <a:p>
            <a:r>
              <a:rPr sz="1600">
                <a:solidFill>
                  <a:srgbClr val="2D2D2D"/>
                </a:solidFill>
              </a:rPr>
              <a:t>Higher complexity — requires proven trust from Phase 1 success</a:t>
            </a:r>
          </a:p>
          <a:p>
            <a:r>
              <a:rPr sz="1600">
                <a:solidFill>
                  <a:srgbClr val="2D2D2D"/>
                </a:solidFill>
              </a:rPr>
              <a:t>Address legacy system constraints with validated approach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463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5FA3"/>
                </a:solidFill>
              </a:rPr>
              <a:t>Bottom Line: Start with the easy, high-volume win before attempting harder, strategic problems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7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Expected Benefits — W2 ETA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828800"/>
            <a:ext cx="3200400" cy="1371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3C"/>
                </a:solidFill>
              </a:rPr>
              <a:t>Time Savings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D2D2D"/>
                </a:solidFill>
              </a:rPr>
              <a:t>558 hours/month
2.8 FTE equivalent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1828800"/>
            <a:ext cx="3200400" cy="1371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3C"/>
                </a:solidFill>
              </a:rPr>
              <a:t>Speed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2377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D2D2D"/>
                </a:solidFill>
              </a:rPr>
              <a:t>&lt;5 min response
vs. 4 min current avg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828800"/>
            <a:ext cx="3200400" cy="1371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3C"/>
                </a:solidFill>
              </a:rPr>
              <a:t>Customer Satisfaction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774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D2D2D"/>
                </a:solidFill>
              </a:rPr>
              <a:t>Faster, more accurate
ETA information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3657600"/>
            <a:ext cx="3200400" cy="1371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9748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3C"/>
                </a:solidFill>
              </a:rPr>
              <a:t>Scalability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4206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D2D2D"/>
                </a:solidFill>
              </a:rPr>
              <a:t>Handle volume spikes
without hiring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3657600"/>
            <a:ext cx="3200400" cy="1371600"/>
          </a:xfrm>
          <a:prstGeom prst="rect">
            <a:avLst/>
          </a:prstGeom>
          <a:solidFill>
            <a:srgbClr val="F2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09360" y="3840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A7A3C"/>
                </a:solidFill>
              </a:rPr>
              <a:t>Team Morale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2062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2D2D2D"/>
                </a:solidFill>
              </a:rPr>
              <a:t>Staff focus on complex
work, not repetitive lookups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460</Words>
  <Application>Microsoft Office PowerPoint</Application>
  <PresentationFormat>Custom</PresentationFormat>
  <Paragraphs>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Ann OHagan</cp:lastModifiedBy>
  <cp:revision>1</cp:revision>
  <dcterms:created xsi:type="dcterms:W3CDTF">2013-01-27T09:14:16Z</dcterms:created>
  <dcterms:modified xsi:type="dcterms:W3CDTF">2026-05-06T12:42:13Z</dcterms:modified>
  <cp:category/>
</cp:coreProperties>
</file>