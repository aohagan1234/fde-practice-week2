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120640"/>
            <a:ext cx="12188952" cy="54864"/>
          </a:xfrm>
          <a:prstGeom prst="rect">
            <a:avLst/>
          </a:prstGeom>
          <a:solidFill>
            <a:srgbClr val="E36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47472"/>
            <a:ext cx="10972800" cy="411480"/>
          </a:xfrm>
          <a:prstGeom prst="rect">
            <a:avLst/>
          </a:prstGeom>
          <a:noFill/>
        </p:spPr>
        <p:txBody>
          <a:bodyPr wrap="square">
            <a:spAutoFit/>
          </a:bodyPr>
          <a:lstStyle/>
          <a:p>
            <a:pPr algn="l"/>
            <a:r>
              <a:rPr sz="1200" b="1" i="0">
                <a:solidFill>
                  <a:srgbClr val="BBCCEE"/>
                </a:solidFill>
              </a:rPr>
              <a:t>MEDFLEX  ·  GATE 3  ·  DEFENSE</a:t>
            </a:r>
          </a:p>
        </p:txBody>
      </p:sp>
      <p:sp>
        <p:nvSpPr>
          <p:cNvPr id="5" name="TextBox 4"/>
          <p:cNvSpPr txBox="1"/>
          <p:nvPr/>
        </p:nvSpPr>
        <p:spPr>
          <a:xfrm>
            <a:off x="502920" y="822960"/>
            <a:ext cx="10515600" cy="1920240"/>
          </a:xfrm>
          <a:prstGeom prst="rect">
            <a:avLst/>
          </a:prstGeom>
          <a:noFill/>
        </p:spPr>
        <p:txBody>
          <a:bodyPr wrap="square">
            <a:spAutoFit/>
          </a:bodyPr>
          <a:lstStyle/>
          <a:p>
            <a:pPr algn="l"/>
            <a:r>
              <a:rPr sz="4200" b="1" i="0">
                <a:solidFill>
                  <a:srgbClr val="FFFFFF"/>
                </a:solidFill>
              </a:rPr>
              <a:t>Candidate Ranking
&amp; Parallel Outreach</a:t>
            </a:r>
          </a:p>
        </p:txBody>
      </p:sp>
      <p:sp>
        <p:nvSpPr>
          <p:cNvPr id="6" name="TextBox 5"/>
          <p:cNvSpPr txBox="1"/>
          <p:nvPr/>
        </p:nvSpPr>
        <p:spPr>
          <a:xfrm>
            <a:off x="502920" y="2834640"/>
            <a:ext cx="8229600" cy="411480"/>
          </a:xfrm>
          <a:prstGeom prst="rect">
            <a:avLst/>
          </a:prstGeom>
          <a:noFill/>
        </p:spPr>
        <p:txBody>
          <a:bodyPr wrap="square">
            <a:spAutoFit/>
          </a:bodyPr>
          <a:lstStyle/>
          <a:p>
            <a:pPr algn="l"/>
            <a:r>
              <a:rPr sz="1600" b="0" i="1">
                <a:solidFill>
                  <a:srgbClr val="BBCCEE"/>
                </a:solidFill>
              </a:rPr>
              <a:t>Built, tested, and ready to defend.</a:t>
            </a:r>
          </a:p>
        </p:txBody>
      </p:sp>
      <p:sp>
        <p:nvSpPr>
          <p:cNvPr id="7" name="Rectangle 6"/>
          <p:cNvSpPr/>
          <p:nvPr/>
        </p:nvSpPr>
        <p:spPr>
          <a:xfrm>
            <a:off x="502920" y="3520440"/>
            <a:ext cx="3657600" cy="1417320"/>
          </a:xfrm>
          <a:prstGeom prst="rect">
            <a:avLst/>
          </a:prstGeom>
          <a:solidFill>
            <a:srgbClr val="E36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7512" y="3639312"/>
            <a:ext cx="3337560" cy="1170432"/>
          </a:xfrm>
          <a:prstGeom prst="rect">
            <a:avLst/>
          </a:prstGeom>
          <a:noFill/>
        </p:spPr>
        <p:txBody>
          <a:bodyPr wrap="square">
            <a:spAutoFit/>
          </a:bodyPr>
          <a:lstStyle/>
          <a:p>
            <a:pPr algn="l"/>
            <a:r>
              <a:rPr sz="1400" b="1" i="0">
                <a:solidFill>
                  <a:srgbClr val="FFFFFF"/>
                </a:solidFill>
              </a:rPr>
              <a:t>Is this agentic — or just a
mechanistic app with AI on top?</a:t>
            </a:r>
          </a:p>
        </p:txBody>
      </p:sp>
      <p:sp>
        <p:nvSpPr>
          <p:cNvPr id="9" name="Rectangle 8"/>
          <p:cNvSpPr/>
          <p:nvPr/>
        </p:nvSpPr>
        <p:spPr>
          <a:xfrm>
            <a:off x="4416552" y="3520440"/>
            <a:ext cx="3657600" cy="1417320"/>
          </a:xfrm>
          <a:prstGeom prst="rect">
            <a:avLst/>
          </a:prstGeom>
          <a:solidFill>
            <a:srgbClr val="235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81144" y="3639312"/>
            <a:ext cx="3337560" cy="1170432"/>
          </a:xfrm>
          <a:prstGeom prst="rect">
            <a:avLst/>
          </a:prstGeom>
          <a:noFill/>
        </p:spPr>
        <p:txBody>
          <a:bodyPr wrap="square">
            <a:spAutoFit/>
          </a:bodyPr>
          <a:lstStyle/>
          <a:p>
            <a:pPr algn="l"/>
            <a:r>
              <a:rPr sz="1400" b="1" i="0">
                <a:solidFill>
                  <a:srgbClr val="FFFFFF"/>
                </a:solidFill>
              </a:rPr>
              <a:t>The CEO's two failed AI projects.
How is yours different?</a:t>
            </a:r>
          </a:p>
        </p:txBody>
      </p:sp>
      <p:sp>
        <p:nvSpPr>
          <p:cNvPr id="11" name="Rectangle 10"/>
          <p:cNvSpPr/>
          <p:nvPr/>
        </p:nvSpPr>
        <p:spPr>
          <a:xfrm>
            <a:off x="8330184" y="3520440"/>
            <a:ext cx="3657600" cy="1417320"/>
          </a:xfrm>
          <a:prstGeom prst="rect">
            <a:avLst/>
          </a:prstGeom>
          <a:solidFill>
            <a:srgbClr val="BF3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94776" y="3639312"/>
            <a:ext cx="3337560" cy="1170432"/>
          </a:xfrm>
          <a:prstGeom prst="rect">
            <a:avLst/>
          </a:prstGeom>
          <a:noFill/>
        </p:spPr>
        <p:txBody>
          <a:bodyPr wrap="square">
            <a:spAutoFit/>
          </a:bodyPr>
          <a:lstStyle/>
          <a:p>
            <a:pPr algn="l"/>
            <a:r>
              <a:rPr sz="1400" b="1" i="0">
                <a:solidFill>
                  <a:srgbClr val="FFFFFF"/>
                </a:solidFill>
              </a:rPr>
              <a:t>What kills this
in production?</a:t>
            </a:r>
          </a:p>
        </p:txBody>
      </p:sp>
      <p:sp>
        <p:nvSpPr>
          <p:cNvPr id="13" name="TextBox 12"/>
          <p:cNvSpPr txBox="1"/>
          <p:nvPr/>
        </p:nvSpPr>
        <p:spPr>
          <a:xfrm>
            <a:off x="502920" y="5285232"/>
            <a:ext cx="4572000" cy="347472"/>
          </a:xfrm>
          <a:prstGeom prst="rect">
            <a:avLst/>
          </a:prstGeom>
          <a:noFill/>
        </p:spPr>
        <p:txBody>
          <a:bodyPr wrap="square">
            <a:spAutoFit/>
          </a:bodyPr>
          <a:lstStyle/>
          <a:p>
            <a:pPr algn="l"/>
            <a:r>
              <a:rPr sz="1100" b="0" i="0">
                <a:solidFill>
                  <a:srgbClr val="BBCCEE"/>
                </a:solidFill>
              </a:rPr>
              <a:t>Ann O'Hagan  ·  2026-05-13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73152"/>
            <a:ext cx="11338560" cy="566928"/>
          </a:xfrm>
          <a:prstGeom prst="rect">
            <a:avLst/>
          </a:prstGeom>
          <a:noFill/>
        </p:spPr>
        <p:txBody>
          <a:bodyPr wrap="square">
            <a:spAutoFit/>
          </a:bodyPr>
          <a:lstStyle/>
          <a:p>
            <a:pPr algn="l"/>
            <a:r>
              <a:rPr sz="2600" b="1" i="0">
                <a:solidFill>
                  <a:srgbClr val="FFFFFF"/>
                </a:solidFill>
              </a:rPr>
              <a:t>What Was Built</a:t>
            </a:r>
          </a:p>
        </p:txBody>
      </p:sp>
      <p:sp>
        <p:nvSpPr>
          <p:cNvPr id="5" name="TextBox 4"/>
          <p:cNvSpPr txBox="1"/>
          <p:nvPr/>
        </p:nvSpPr>
        <p:spPr>
          <a:xfrm>
            <a:off x="411480" y="640080"/>
            <a:ext cx="11338560" cy="292608"/>
          </a:xfrm>
          <a:prstGeom prst="rect">
            <a:avLst/>
          </a:prstGeom>
          <a:noFill/>
        </p:spPr>
        <p:txBody>
          <a:bodyPr wrap="square">
            <a:spAutoFit/>
          </a:bodyPr>
          <a:lstStyle/>
          <a:p>
            <a:pPr algn="l"/>
            <a:r>
              <a:rPr sz="1200" b="0" i="1">
                <a:solidFill>
                  <a:srgbClr val="BBCCEE"/>
                </a:solidFill>
              </a:rPr>
              <a:t>The brief, the two capabilities, and the wave structure.</a:t>
            </a:r>
          </a:p>
        </p:txBody>
      </p:sp>
      <p:sp>
        <p:nvSpPr>
          <p:cNvPr id="6" name="TextBox 5"/>
          <p:cNvSpPr txBox="1"/>
          <p:nvPr/>
        </p:nvSpPr>
        <p:spPr>
          <a:xfrm>
            <a:off x="11430000" y="6565392"/>
            <a:ext cx="685800" cy="237744"/>
          </a:xfrm>
          <a:prstGeom prst="rect">
            <a:avLst/>
          </a:prstGeom>
          <a:noFill/>
        </p:spPr>
        <p:txBody>
          <a:bodyPr wrap="square">
            <a:spAutoFit/>
          </a:bodyPr>
          <a:lstStyle/>
          <a:p>
            <a:pPr algn="r"/>
            <a:r>
              <a:rPr sz="1000" b="0" i="0">
                <a:solidFill>
                  <a:srgbClr val="606060"/>
                </a:solidFill>
              </a:rPr>
              <a:t>2 / 6</a:t>
            </a:r>
          </a:p>
        </p:txBody>
      </p:sp>
      <p:sp>
        <p:nvSpPr>
          <p:cNvPr id="7" name="TextBox 6"/>
          <p:cNvSpPr txBox="1"/>
          <p:nvPr/>
        </p:nvSpPr>
        <p:spPr>
          <a:xfrm>
            <a:off x="411480" y="1078992"/>
            <a:ext cx="5303520" cy="329184"/>
          </a:xfrm>
          <a:prstGeom prst="rect">
            <a:avLst/>
          </a:prstGeom>
          <a:noFill/>
        </p:spPr>
        <p:txBody>
          <a:bodyPr wrap="square">
            <a:spAutoFit/>
          </a:bodyPr>
          <a:lstStyle/>
          <a:p>
            <a:pPr algn="l"/>
            <a:r>
              <a:rPr sz="1300" b="1" i="0">
                <a:solidFill>
                  <a:srgbClr val="1B3A6B"/>
                </a:solidFill>
              </a:rPr>
              <a:t>The problem</a:t>
            </a:r>
          </a:p>
        </p:txBody>
      </p:sp>
      <p:sp>
        <p:nvSpPr>
          <p:cNvPr id="8" name="Rectangle 7"/>
          <p:cNvSpPr/>
          <p:nvPr/>
        </p:nvSpPr>
        <p:spPr>
          <a:xfrm>
            <a:off x="411480" y="1408176"/>
            <a:ext cx="11365992" cy="18288"/>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11480" y="1645920"/>
            <a:ext cx="91440" cy="9144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 y="1591056"/>
            <a:ext cx="5074920" cy="566928"/>
          </a:xfrm>
          <a:prstGeom prst="rect">
            <a:avLst/>
          </a:prstGeom>
          <a:noFill/>
        </p:spPr>
        <p:txBody>
          <a:bodyPr wrap="square">
            <a:spAutoFit/>
          </a:bodyPr>
          <a:lstStyle/>
          <a:p>
            <a:pPr algn="l"/>
            <a:r>
              <a:rPr sz="1400" b="0" i="0">
                <a:solidFill>
                  <a:srgbClr val="2D2D2D"/>
                </a:solidFill>
              </a:rPr>
              <a:t>MedFlex places nurses into hospital shifts.</a:t>
            </a:r>
          </a:p>
        </p:txBody>
      </p:sp>
      <p:sp>
        <p:nvSpPr>
          <p:cNvPr id="11" name="Rectangle 10"/>
          <p:cNvSpPr/>
          <p:nvPr/>
        </p:nvSpPr>
        <p:spPr>
          <a:xfrm>
            <a:off x="411480" y="2359152"/>
            <a:ext cx="91440" cy="9144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2304288"/>
            <a:ext cx="5074920" cy="566928"/>
          </a:xfrm>
          <a:prstGeom prst="rect">
            <a:avLst/>
          </a:prstGeom>
          <a:noFill/>
        </p:spPr>
        <p:txBody>
          <a:bodyPr wrap="square">
            <a:spAutoFit/>
          </a:bodyPr>
          <a:lstStyle/>
          <a:p>
            <a:pPr algn="l"/>
            <a:r>
              <a:rPr sz="1400" b="0" i="0">
                <a:solidFill>
                  <a:srgbClr val="2D2D2D"/>
                </a:solidFill>
              </a:rPr>
              <a:t>When a shift needs filling, coordinators contact nurses one at a time.</a:t>
            </a:r>
          </a:p>
        </p:txBody>
      </p:sp>
      <p:sp>
        <p:nvSpPr>
          <p:cNvPr id="13" name="Rectangle 12"/>
          <p:cNvSpPr/>
          <p:nvPr/>
        </p:nvSpPr>
        <p:spPr>
          <a:xfrm>
            <a:off x="411480" y="3072384"/>
            <a:ext cx="91440" cy="9144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 y="3017520"/>
            <a:ext cx="5074920" cy="566928"/>
          </a:xfrm>
          <a:prstGeom prst="rect">
            <a:avLst/>
          </a:prstGeom>
          <a:noFill/>
        </p:spPr>
        <p:txBody>
          <a:bodyPr wrap="square">
            <a:spAutoFit/>
          </a:bodyPr>
          <a:lstStyle/>
          <a:p>
            <a:pPr algn="l"/>
            <a:r>
              <a:rPr sz="1400" b="0" i="0">
                <a:solidFill>
                  <a:srgbClr val="2D2D2D"/>
                </a:solidFill>
              </a:rPr>
              <a:t>For urgent fills (≤4h), the window can expire before anyone confirms.</a:t>
            </a:r>
          </a:p>
        </p:txBody>
      </p:sp>
      <p:sp>
        <p:nvSpPr>
          <p:cNvPr id="15" name="Rectangle 14"/>
          <p:cNvSpPr/>
          <p:nvPr/>
        </p:nvSpPr>
        <p:spPr>
          <a:xfrm>
            <a:off x="411480" y="3785615"/>
            <a:ext cx="91440" cy="9144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1792" y="3730752"/>
            <a:ext cx="5074920" cy="566928"/>
          </a:xfrm>
          <a:prstGeom prst="rect">
            <a:avLst/>
          </a:prstGeom>
          <a:noFill/>
        </p:spPr>
        <p:txBody>
          <a:bodyPr wrap="square">
            <a:spAutoFit/>
          </a:bodyPr>
          <a:lstStyle/>
          <a:p>
            <a:pPr algn="l"/>
            <a:r>
              <a:rPr sz="1400" b="0" i="0">
                <a:solidFill>
                  <a:srgbClr val="2D2D2D"/>
                </a:solidFill>
              </a:rPr>
              <a:t>Kim's team owns the hospital relationship — the agent never contacts
the hospital directly.</a:t>
            </a:r>
          </a:p>
        </p:txBody>
      </p:sp>
      <p:sp>
        <p:nvSpPr>
          <p:cNvPr id="17" name="Rectangle 16"/>
          <p:cNvSpPr/>
          <p:nvPr/>
        </p:nvSpPr>
        <p:spPr>
          <a:xfrm>
            <a:off x="6035040" y="1024128"/>
            <a:ext cx="36576" cy="539496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63640" y="1078992"/>
            <a:ext cx="5440680" cy="329184"/>
          </a:xfrm>
          <a:prstGeom prst="rect">
            <a:avLst/>
          </a:prstGeom>
          <a:noFill/>
        </p:spPr>
        <p:txBody>
          <a:bodyPr wrap="square">
            <a:spAutoFit/>
          </a:bodyPr>
          <a:lstStyle/>
          <a:p>
            <a:pPr algn="l"/>
            <a:r>
              <a:rPr sz="1300" b="1" i="0">
                <a:solidFill>
                  <a:srgbClr val="1B3A6B"/>
                </a:solidFill>
              </a:rPr>
              <a:t>What was built</a:t>
            </a:r>
          </a:p>
        </p:txBody>
      </p:sp>
      <p:sp>
        <p:nvSpPr>
          <p:cNvPr id="19" name="Rectangle 18"/>
          <p:cNvSpPr/>
          <p:nvPr/>
        </p:nvSpPr>
        <p:spPr>
          <a:xfrm>
            <a:off x="411480" y="1408176"/>
            <a:ext cx="11365992" cy="18288"/>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63640" y="1481328"/>
            <a:ext cx="91440" cy="1325880"/>
          </a:xfrm>
          <a:prstGeom prst="rect">
            <a:avLst/>
          </a:prstGeom>
          <a:solidFill>
            <a:srgbClr val="E36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0" y="1572768"/>
            <a:ext cx="5166360" cy="384048"/>
          </a:xfrm>
          <a:prstGeom prst="rect">
            <a:avLst/>
          </a:prstGeom>
          <a:noFill/>
        </p:spPr>
        <p:txBody>
          <a:bodyPr wrap="square">
            <a:spAutoFit/>
          </a:bodyPr>
          <a:lstStyle/>
          <a:p>
            <a:pPr algn="l"/>
            <a:r>
              <a:rPr sz="1400" b="1" i="0">
                <a:solidFill>
                  <a:srgbClr val="2D2D2D"/>
                </a:solidFill>
              </a:rPr>
              <a:t>Candidate ranking</a:t>
            </a:r>
          </a:p>
        </p:txBody>
      </p:sp>
      <p:sp>
        <p:nvSpPr>
          <p:cNvPr id="22" name="TextBox 21"/>
          <p:cNvSpPr txBox="1"/>
          <p:nvPr/>
        </p:nvSpPr>
        <p:spPr>
          <a:xfrm>
            <a:off x="6492240" y="2011680"/>
            <a:ext cx="5166360" cy="749808"/>
          </a:xfrm>
          <a:prstGeom prst="rect">
            <a:avLst/>
          </a:prstGeom>
          <a:noFill/>
        </p:spPr>
        <p:txBody>
          <a:bodyPr wrap="square">
            <a:spAutoFit/>
          </a:bodyPr>
          <a:lstStyle/>
          <a:p>
            <a:pPr algn="l"/>
            <a:r>
              <a:rPr sz="1300" b="0" i="0">
                <a:solidFill>
                  <a:srgbClr val="606060"/>
                </a:solidFill>
              </a:rPr>
              <a:t>Ranks eligible nurses across 6 factors simultaneously.
Returns up to 5 ranked candidates with a written rationale each.</a:t>
            </a:r>
          </a:p>
        </p:txBody>
      </p:sp>
      <p:sp>
        <p:nvSpPr>
          <p:cNvPr id="23" name="Rectangle 22"/>
          <p:cNvSpPr/>
          <p:nvPr/>
        </p:nvSpPr>
        <p:spPr>
          <a:xfrm>
            <a:off x="6263640" y="3081528"/>
            <a:ext cx="91440" cy="1325880"/>
          </a:xfrm>
          <a:prstGeom prst="rect">
            <a:avLst/>
          </a:prstGeom>
          <a:solidFill>
            <a:srgbClr val="235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92240" y="3172968"/>
            <a:ext cx="5166360" cy="384048"/>
          </a:xfrm>
          <a:prstGeom prst="rect">
            <a:avLst/>
          </a:prstGeom>
          <a:noFill/>
        </p:spPr>
        <p:txBody>
          <a:bodyPr wrap="square">
            <a:spAutoFit/>
          </a:bodyPr>
          <a:lstStyle/>
          <a:p>
            <a:pPr algn="l"/>
            <a:r>
              <a:rPr sz="1400" b="1" i="0">
                <a:solidFill>
                  <a:srgbClr val="2D2D2D"/>
                </a:solidFill>
              </a:rPr>
              <a:t>Parallel outreach</a:t>
            </a:r>
          </a:p>
        </p:txBody>
      </p:sp>
      <p:sp>
        <p:nvSpPr>
          <p:cNvPr id="25" name="TextBox 24"/>
          <p:cNvSpPr txBox="1"/>
          <p:nvPr/>
        </p:nvSpPr>
        <p:spPr>
          <a:xfrm>
            <a:off x="6492240" y="3611880"/>
            <a:ext cx="5166360" cy="749808"/>
          </a:xfrm>
          <a:prstGeom prst="rect">
            <a:avLst/>
          </a:prstGeom>
          <a:noFill/>
        </p:spPr>
        <p:txBody>
          <a:bodyPr wrap="square">
            <a:spAutoFit/>
          </a:bodyPr>
          <a:lstStyle/>
          <a:p>
            <a:pPr algn="l"/>
            <a:r>
              <a:rPr sz="1300" b="0" i="0">
                <a:solidFill>
                  <a:srgbClr val="606060"/>
                </a:solidFill>
              </a:rPr>
              <a:t>Contacts top-ranked nurses simultaneously.
Adapts strategy in real time based on urgency, pool size, and concurrent fills.</a:t>
            </a:r>
          </a:p>
        </p:txBody>
      </p:sp>
      <p:sp>
        <p:nvSpPr>
          <p:cNvPr id="26" name="Rectangle 25"/>
          <p:cNvSpPr/>
          <p:nvPr/>
        </p:nvSpPr>
        <p:spPr>
          <a:xfrm>
            <a:off x="411480" y="4773168"/>
            <a:ext cx="11365992" cy="329184"/>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94360" y="4828031"/>
            <a:ext cx="10972800" cy="237744"/>
          </a:xfrm>
          <a:prstGeom prst="rect">
            <a:avLst/>
          </a:prstGeom>
          <a:noFill/>
        </p:spPr>
        <p:txBody>
          <a:bodyPr wrap="square">
            <a:spAutoFit/>
          </a:bodyPr>
          <a:lstStyle/>
          <a:p>
            <a:pPr algn="l"/>
            <a:r>
              <a:rPr sz="1200" b="1" i="0">
                <a:solidFill>
                  <a:srgbClr val="FFFFFF"/>
                </a:solidFill>
              </a:rPr>
              <a:t>Wave structure</a:t>
            </a:r>
          </a:p>
        </p:txBody>
      </p:sp>
      <p:sp>
        <p:nvSpPr>
          <p:cNvPr id="28" name="Rectangle 27"/>
          <p:cNvSpPr/>
          <p:nvPr/>
        </p:nvSpPr>
        <p:spPr>
          <a:xfrm>
            <a:off x="411480" y="5102352"/>
            <a:ext cx="5486400" cy="1417320"/>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94360" y="5175504"/>
            <a:ext cx="5212080" cy="329184"/>
          </a:xfrm>
          <a:prstGeom prst="rect">
            <a:avLst/>
          </a:prstGeom>
          <a:noFill/>
        </p:spPr>
        <p:txBody>
          <a:bodyPr wrap="square">
            <a:spAutoFit/>
          </a:bodyPr>
          <a:lstStyle/>
          <a:p>
            <a:pPr algn="l"/>
            <a:r>
              <a:rPr sz="1300" b="1" i="0">
                <a:solidFill>
                  <a:srgbClr val="1B3A6B"/>
                </a:solidFill>
              </a:rPr>
              <a:t>Wave 1 — 6-week pilot</a:t>
            </a:r>
          </a:p>
        </p:txBody>
      </p:sp>
      <p:sp>
        <p:nvSpPr>
          <p:cNvPr id="30" name="TextBox 29"/>
          <p:cNvSpPr txBox="1"/>
          <p:nvPr/>
        </p:nvSpPr>
        <p:spPr>
          <a:xfrm>
            <a:off x="594360" y="5522976"/>
            <a:ext cx="5212080" cy="896112"/>
          </a:xfrm>
          <a:prstGeom prst="rect">
            <a:avLst/>
          </a:prstGeom>
          <a:noFill/>
        </p:spPr>
        <p:txBody>
          <a:bodyPr wrap="square">
            <a:spAutoFit/>
          </a:bodyPr>
          <a:lstStyle/>
          <a:p>
            <a:pPr algn="l"/>
            <a:r>
              <a:rPr sz="1200" b="0" i="0">
                <a:solidFill>
                  <a:srgbClr val="2D2D2D"/>
                </a:solidFill>
              </a:rPr>
              <a:t>Candidate ranking + parallel outreach.
Standard fills &gt;24h. 2–3 coordinators. Established hospitals.
Coordinator approves every placement.</a:t>
            </a:r>
          </a:p>
        </p:txBody>
      </p:sp>
      <p:sp>
        <p:nvSpPr>
          <p:cNvPr id="31" name="Rectangle 30"/>
          <p:cNvSpPr/>
          <p:nvPr/>
        </p:nvSpPr>
        <p:spPr>
          <a:xfrm>
            <a:off x="5897880" y="5102352"/>
            <a:ext cx="5879592" cy="1417320"/>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080760" y="5175504"/>
            <a:ext cx="5577840" cy="329184"/>
          </a:xfrm>
          <a:prstGeom prst="rect">
            <a:avLst/>
          </a:prstGeom>
          <a:noFill/>
        </p:spPr>
        <p:txBody>
          <a:bodyPr wrap="square">
            <a:spAutoFit/>
          </a:bodyPr>
          <a:lstStyle/>
          <a:p>
            <a:pPr algn="l"/>
            <a:r>
              <a:rPr sz="1300" b="1" i="0">
                <a:solidFill>
                  <a:srgbClr val="1B3A6B"/>
                </a:solidFill>
              </a:rPr>
              <a:t>Wave 2 — condition-triggered at month 5</a:t>
            </a:r>
          </a:p>
        </p:txBody>
      </p:sp>
      <p:sp>
        <p:nvSpPr>
          <p:cNvPr id="33" name="TextBox 32"/>
          <p:cNvSpPr txBox="1"/>
          <p:nvPr/>
        </p:nvSpPr>
        <p:spPr>
          <a:xfrm>
            <a:off x="6080760" y="5522976"/>
            <a:ext cx="5577840" cy="896112"/>
          </a:xfrm>
          <a:prstGeom prst="rect">
            <a:avLst/>
          </a:prstGeom>
          <a:noFill/>
        </p:spPr>
        <p:txBody>
          <a:bodyPr wrap="square">
            <a:spAutoFit/>
          </a:bodyPr>
          <a:lstStyle/>
          <a:p>
            <a:pPr algn="l"/>
            <a:r>
              <a:rPr sz="1200" b="0" i="0">
                <a:solidFill>
                  <a:srgbClr val="2D2D2D"/>
                </a:solidFill>
              </a:rPr>
              <a:t>Credential recency, no-show backfill, pre-shift mismatch detection.
Starts only if first-recommendation acceptance rate ≥90% over 60 days.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73152"/>
            <a:ext cx="11338560" cy="566928"/>
          </a:xfrm>
          <a:prstGeom prst="rect">
            <a:avLst/>
          </a:prstGeom>
          <a:noFill/>
        </p:spPr>
        <p:txBody>
          <a:bodyPr wrap="square">
            <a:spAutoFit/>
          </a:bodyPr>
          <a:lstStyle/>
          <a:p>
            <a:pPr algn="l"/>
            <a:r>
              <a:rPr sz="2600" b="1" i="0">
                <a:solidFill>
                  <a:srgbClr val="FFFFFF"/>
                </a:solidFill>
              </a:rPr>
              <a:t>Is This Agentic — or Just a Fancy App?</a:t>
            </a:r>
          </a:p>
        </p:txBody>
      </p:sp>
      <p:sp>
        <p:nvSpPr>
          <p:cNvPr id="5" name="TextBox 4"/>
          <p:cNvSpPr txBox="1"/>
          <p:nvPr/>
        </p:nvSpPr>
        <p:spPr>
          <a:xfrm>
            <a:off x="411480" y="640080"/>
            <a:ext cx="11338560" cy="292608"/>
          </a:xfrm>
          <a:prstGeom prst="rect">
            <a:avLst/>
          </a:prstGeom>
          <a:noFill/>
        </p:spPr>
        <p:txBody>
          <a:bodyPr wrap="square">
            <a:spAutoFit/>
          </a:bodyPr>
          <a:lstStyle/>
          <a:p>
            <a:pPr algn="l"/>
            <a:r>
              <a:rPr sz="1200" b="0" i="1">
                <a:solidFill>
                  <a:srgbClr val="BBCCEE"/>
                </a:solidFill>
              </a:rPr>
              <a:t>Honest answer: some parts are deterministic. Here is where the agent earns its place.</a:t>
            </a:r>
          </a:p>
        </p:txBody>
      </p:sp>
      <p:sp>
        <p:nvSpPr>
          <p:cNvPr id="6" name="TextBox 5"/>
          <p:cNvSpPr txBox="1"/>
          <p:nvPr/>
        </p:nvSpPr>
        <p:spPr>
          <a:xfrm>
            <a:off x="11430000" y="6565392"/>
            <a:ext cx="685800" cy="237744"/>
          </a:xfrm>
          <a:prstGeom prst="rect">
            <a:avLst/>
          </a:prstGeom>
          <a:noFill/>
        </p:spPr>
        <p:txBody>
          <a:bodyPr wrap="square">
            <a:spAutoFit/>
          </a:bodyPr>
          <a:lstStyle/>
          <a:p>
            <a:pPr algn="r"/>
            <a:r>
              <a:rPr sz="1000" b="0" i="0">
                <a:solidFill>
                  <a:srgbClr val="606060"/>
                </a:solidFill>
              </a:rPr>
              <a:t>3 / 6</a:t>
            </a:r>
          </a:p>
        </p:txBody>
      </p:sp>
      <p:sp>
        <p:nvSpPr>
          <p:cNvPr id="7" name="Rectangle 6"/>
          <p:cNvSpPr/>
          <p:nvPr/>
        </p:nvSpPr>
        <p:spPr>
          <a:xfrm>
            <a:off x="411480" y="1024128"/>
            <a:ext cx="11365992" cy="658368"/>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024128"/>
            <a:ext cx="109728" cy="658368"/>
          </a:xfrm>
          <a:prstGeom prst="rect">
            <a:avLst/>
          </a:prstGeom>
          <a:solidFill>
            <a:srgbClr val="CC8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1097280"/>
            <a:ext cx="10972800" cy="512064"/>
          </a:xfrm>
          <a:prstGeom prst="rect">
            <a:avLst/>
          </a:prstGeom>
          <a:noFill/>
        </p:spPr>
        <p:txBody>
          <a:bodyPr wrap="square">
            <a:spAutoFit/>
          </a:bodyPr>
          <a:lstStyle/>
          <a:p>
            <a:pPr algn="l"/>
            <a:r>
              <a:rPr sz="1300" b="0" i="1">
                <a:solidFill>
                  <a:srgbClr val="2D2D2D"/>
                </a:solidFill>
              </a:rPr>
              <a:t>The honest concession: urgency tier calculation, factor weights, no-show lookback, and response rate imputation are all deterministic — they are if/else rules and arithmetic. A script could run them.</a:t>
            </a:r>
          </a:p>
        </p:txBody>
      </p:sp>
      <p:sp>
        <p:nvSpPr>
          <p:cNvPr id="10" name="Rectangle 9"/>
          <p:cNvSpPr/>
          <p:nvPr/>
        </p:nvSpPr>
        <p:spPr>
          <a:xfrm>
            <a:off x="411480" y="1783080"/>
            <a:ext cx="3749039" cy="347472"/>
          </a:xfrm>
          <a:prstGeom prst="rect">
            <a:avLst/>
          </a:prstGeom>
          <a:solidFill>
            <a:srgbClr val="235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1819656"/>
            <a:ext cx="3611879" cy="274320"/>
          </a:xfrm>
          <a:prstGeom prst="rect">
            <a:avLst/>
          </a:prstGeom>
          <a:noFill/>
        </p:spPr>
        <p:txBody>
          <a:bodyPr wrap="square">
            <a:spAutoFit/>
          </a:bodyPr>
          <a:lstStyle/>
          <a:p>
            <a:pPr algn="l"/>
            <a:r>
              <a:rPr sz="1100" b="1" i="0">
                <a:solidFill>
                  <a:srgbClr val="FFFFFF"/>
                </a:solidFill>
              </a:rPr>
              <a:t>What a standard app does</a:t>
            </a:r>
          </a:p>
        </p:txBody>
      </p:sp>
      <p:sp>
        <p:nvSpPr>
          <p:cNvPr id="12" name="Rectangle 11"/>
          <p:cNvSpPr/>
          <p:nvPr/>
        </p:nvSpPr>
        <p:spPr>
          <a:xfrm>
            <a:off x="411480" y="2176272"/>
            <a:ext cx="3749039" cy="822960"/>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249424"/>
            <a:ext cx="3520439" cy="694944"/>
          </a:xfrm>
          <a:prstGeom prst="rect">
            <a:avLst/>
          </a:prstGeom>
          <a:noFill/>
        </p:spPr>
        <p:txBody>
          <a:bodyPr wrap="square">
            <a:spAutoFit/>
          </a:bodyPr>
          <a:lstStyle/>
          <a:p>
            <a:pPr algn="l"/>
            <a:r>
              <a:rPr sz="1100" b="0" i="0">
                <a:solidFill>
                  <a:srgbClr val="2D2D2D"/>
                </a:solidFill>
              </a:rPr>
              <a:t>Contact nurses sequentially —
one at a time</a:t>
            </a:r>
          </a:p>
        </p:txBody>
      </p:sp>
      <p:sp>
        <p:nvSpPr>
          <p:cNvPr id="14" name="Rectangle 13"/>
          <p:cNvSpPr/>
          <p:nvPr/>
        </p:nvSpPr>
        <p:spPr>
          <a:xfrm>
            <a:off x="411480" y="3035808"/>
            <a:ext cx="3749039"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3108960"/>
            <a:ext cx="3520439" cy="694944"/>
          </a:xfrm>
          <a:prstGeom prst="rect">
            <a:avLst/>
          </a:prstGeom>
          <a:noFill/>
        </p:spPr>
        <p:txBody>
          <a:bodyPr wrap="square">
            <a:spAutoFit/>
          </a:bodyPr>
          <a:lstStyle/>
          <a:p>
            <a:pPr algn="l"/>
            <a:r>
              <a:rPr sz="1100" b="0" i="0">
                <a:solidFill>
                  <a:srgbClr val="2D2D2D"/>
                </a:solidFill>
              </a:rPr>
              <a:t>Apply a fixed contact order
(e.g. alphabetical or seniority)</a:t>
            </a:r>
          </a:p>
        </p:txBody>
      </p:sp>
      <p:sp>
        <p:nvSpPr>
          <p:cNvPr id="16" name="Rectangle 15"/>
          <p:cNvSpPr/>
          <p:nvPr/>
        </p:nvSpPr>
        <p:spPr>
          <a:xfrm>
            <a:off x="411480" y="3895344"/>
            <a:ext cx="3749039" cy="822960"/>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968496"/>
            <a:ext cx="3520439" cy="694944"/>
          </a:xfrm>
          <a:prstGeom prst="rect">
            <a:avLst/>
          </a:prstGeom>
          <a:noFill/>
        </p:spPr>
        <p:txBody>
          <a:bodyPr wrap="square">
            <a:spAutoFit/>
          </a:bodyPr>
          <a:lstStyle/>
          <a:p>
            <a:pPr algn="l"/>
            <a:r>
              <a:rPr sz="1100" b="0" i="0">
                <a:solidFill>
                  <a:srgbClr val="2D2D2D"/>
                </a:solidFill>
              </a:rPr>
              <a:t>Stop when someone confirms
or all are exhausted</a:t>
            </a:r>
          </a:p>
        </p:txBody>
      </p:sp>
      <p:sp>
        <p:nvSpPr>
          <p:cNvPr id="18" name="Rectangle 17"/>
          <p:cNvSpPr/>
          <p:nvPr/>
        </p:nvSpPr>
        <p:spPr>
          <a:xfrm>
            <a:off x="411480" y="4754879"/>
            <a:ext cx="3749039"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4828031"/>
            <a:ext cx="3520439" cy="694944"/>
          </a:xfrm>
          <a:prstGeom prst="rect">
            <a:avLst/>
          </a:prstGeom>
          <a:noFill/>
        </p:spPr>
        <p:txBody>
          <a:bodyPr wrap="square">
            <a:spAutoFit/>
          </a:bodyPr>
          <a:lstStyle/>
          <a:p>
            <a:pPr algn="l"/>
            <a:r>
              <a:rPr sz="1100" b="0" i="0">
                <a:solidFill>
                  <a:srgbClr val="2D2D2D"/>
                </a:solidFill>
              </a:rPr>
              <a:t>No explanation of why
a nurse was ranked where they were</a:t>
            </a:r>
          </a:p>
        </p:txBody>
      </p:sp>
      <p:sp>
        <p:nvSpPr>
          <p:cNvPr id="20" name="Rectangle 19"/>
          <p:cNvSpPr/>
          <p:nvPr/>
        </p:nvSpPr>
        <p:spPr>
          <a:xfrm>
            <a:off x="411480" y="5614416"/>
            <a:ext cx="3749039" cy="822960"/>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5687568"/>
            <a:ext cx="3520439" cy="694944"/>
          </a:xfrm>
          <a:prstGeom prst="rect">
            <a:avLst/>
          </a:prstGeom>
          <a:noFill/>
        </p:spPr>
        <p:txBody>
          <a:bodyPr wrap="square">
            <a:spAutoFit/>
          </a:bodyPr>
          <a:lstStyle/>
          <a:p>
            <a:pPr algn="l"/>
            <a:r>
              <a:rPr sz="1100" b="0" i="0">
                <a:solidFill>
                  <a:srgbClr val="2D2D2D"/>
                </a:solidFill>
              </a:rPr>
              <a:t>Fail silently when data
is missing or a system is down</a:t>
            </a:r>
          </a:p>
        </p:txBody>
      </p:sp>
      <p:sp>
        <p:nvSpPr>
          <p:cNvPr id="22" name="Rectangle 21"/>
          <p:cNvSpPr/>
          <p:nvPr/>
        </p:nvSpPr>
        <p:spPr>
          <a:xfrm>
            <a:off x="4343400" y="1783080"/>
            <a:ext cx="3749039" cy="34747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34840" y="1819656"/>
            <a:ext cx="3611879" cy="274320"/>
          </a:xfrm>
          <a:prstGeom prst="rect">
            <a:avLst/>
          </a:prstGeom>
          <a:noFill/>
        </p:spPr>
        <p:txBody>
          <a:bodyPr wrap="square">
            <a:spAutoFit/>
          </a:bodyPr>
          <a:lstStyle/>
          <a:p>
            <a:pPr algn="l"/>
            <a:r>
              <a:rPr sz="1100" b="1" i="0">
                <a:solidFill>
                  <a:srgbClr val="FFFFFF"/>
                </a:solidFill>
              </a:rPr>
              <a:t>What the agent does differently</a:t>
            </a:r>
          </a:p>
        </p:txBody>
      </p:sp>
      <p:sp>
        <p:nvSpPr>
          <p:cNvPr id="24" name="Rectangle 23"/>
          <p:cNvSpPr/>
          <p:nvPr/>
        </p:nvSpPr>
        <p:spPr>
          <a:xfrm>
            <a:off x="4343400" y="2176272"/>
            <a:ext cx="3749039" cy="822960"/>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480560" y="2249424"/>
            <a:ext cx="3520439" cy="694944"/>
          </a:xfrm>
          <a:prstGeom prst="rect">
            <a:avLst/>
          </a:prstGeom>
          <a:noFill/>
        </p:spPr>
        <p:txBody>
          <a:bodyPr wrap="square">
            <a:spAutoFit/>
          </a:bodyPr>
          <a:lstStyle/>
          <a:p>
            <a:pPr algn="l"/>
            <a:r>
              <a:rPr sz="1100" b="0" i="0">
                <a:solidFill>
                  <a:srgbClr val="2D2D2D"/>
                </a:solidFill>
              </a:rPr>
              <a:t>Contacts multiple nurses simultaneously,
adapting N to urgency and pool size</a:t>
            </a:r>
          </a:p>
        </p:txBody>
      </p:sp>
      <p:sp>
        <p:nvSpPr>
          <p:cNvPr id="26" name="Rectangle 25"/>
          <p:cNvSpPr/>
          <p:nvPr/>
        </p:nvSpPr>
        <p:spPr>
          <a:xfrm>
            <a:off x="4343400" y="3035808"/>
            <a:ext cx="3749039"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480560" y="3108960"/>
            <a:ext cx="3520439" cy="694944"/>
          </a:xfrm>
          <a:prstGeom prst="rect">
            <a:avLst/>
          </a:prstGeom>
          <a:noFill/>
        </p:spPr>
        <p:txBody>
          <a:bodyPr wrap="square">
            <a:spAutoFit/>
          </a:bodyPr>
          <a:lstStyle/>
          <a:p>
            <a:pPr algn="l"/>
            <a:r>
              <a:rPr sz="1100" b="0" i="0">
                <a:solidFill>
                  <a:srgbClr val="2D2D2D"/>
                </a:solidFill>
              </a:rPr>
              <a:t>Ranks by 6 factors with different
weights depending on urgency context</a:t>
            </a:r>
          </a:p>
        </p:txBody>
      </p:sp>
      <p:sp>
        <p:nvSpPr>
          <p:cNvPr id="28" name="Rectangle 27"/>
          <p:cNvSpPr/>
          <p:nvPr/>
        </p:nvSpPr>
        <p:spPr>
          <a:xfrm>
            <a:off x="4343400" y="3895344"/>
            <a:ext cx="3749039" cy="822960"/>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480560" y="3968496"/>
            <a:ext cx="3520439" cy="694944"/>
          </a:xfrm>
          <a:prstGeom prst="rect">
            <a:avLst/>
          </a:prstGeom>
          <a:noFill/>
        </p:spPr>
        <p:txBody>
          <a:bodyPr wrap="square">
            <a:spAutoFit/>
          </a:bodyPr>
          <a:lstStyle/>
          <a:p>
            <a:pPr algn="l"/>
            <a:r>
              <a:rPr sz="1100" b="0" i="0">
                <a:solidFill>
                  <a:srgbClr val="2D2D2D"/>
                </a:solidFill>
              </a:rPr>
              <a:t>Coordinates across concurrent fills —
excludes nurses already in active outreach</a:t>
            </a:r>
          </a:p>
        </p:txBody>
      </p:sp>
      <p:sp>
        <p:nvSpPr>
          <p:cNvPr id="30" name="Rectangle 29"/>
          <p:cNvSpPr/>
          <p:nvPr/>
        </p:nvSpPr>
        <p:spPr>
          <a:xfrm>
            <a:off x="4343400" y="4754879"/>
            <a:ext cx="3749039"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480560" y="4828031"/>
            <a:ext cx="3520439" cy="694944"/>
          </a:xfrm>
          <a:prstGeom prst="rect">
            <a:avLst/>
          </a:prstGeom>
          <a:noFill/>
        </p:spPr>
        <p:txBody>
          <a:bodyPr wrap="square">
            <a:spAutoFit/>
          </a:bodyPr>
          <a:lstStyle/>
          <a:p>
            <a:pPr algn="l"/>
            <a:r>
              <a:rPr sz="1100" b="0" i="0">
                <a:solidFill>
                  <a:srgbClr val="2D2D2D"/>
                </a:solidFill>
              </a:rPr>
              <a:t>Generates a specific written rationale
per candidate that the coordinator reads</a:t>
            </a:r>
          </a:p>
        </p:txBody>
      </p:sp>
      <p:sp>
        <p:nvSpPr>
          <p:cNvPr id="32" name="Rectangle 31"/>
          <p:cNvSpPr/>
          <p:nvPr/>
        </p:nvSpPr>
        <p:spPr>
          <a:xfrm>
            <a:off x="4343400" y="5614416"/>
            <a:ext cx="3749039" cy="822960"/>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480560" y="5687568"/>
            <a:ext cx="3520439" cy="694944"/>
          </a:xfrm>
          <a:prstGeom prst="rect">
            <a:avLst/>
          </a:prstGeom>
          <a:noFill/>
        </p:spPr>
        <p:txBody>
          <a:bodyPr wrap="square">
            <a:spAutoFit/>
          </a:bodyPr>
          <a:lstStyle/>
          <a:p>
            <a:pPr algn="l"/>
            <a:r>
              <a:rPr sz="1100" b="0" i="0">
                <a:solidFill>
                  <a:srgbClr val="2D2D2D"/>
                </a:solidFill>
              </a:rPr>
              <a:t>Degrades gracefully with imputed data
and flags what changed in the rationale</a:t>
            </a:r>
          </a:p>
        </p:txBody>
      </p:sp>
      <p:sp>
        <p:nvSpPr>
          <p:cNvPr id="34" name="Rectangle 33"/>
          <p:cNvSpPr/>
          <p:nvPr/>
        </p:nvSpPr>
        <p:spPr>
          <a:xfrm>
            <a:off x="8275319" y="1783080"/>
            <a:ext cx="3749039" cy="347472"/>
          </a:xfrm>
          <a:prstGeom prst="rect">
            <a:avLst/>
          </a:prstGeom>
          <a:solidFill>
            <a:srgbClr val="1A7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66759" y="1819656"/>
            <a:ext cx="3611879" cy="274320"/>
          </a:xfrm>
          <a:prstGeom prst="rect">
            <a:avLst/>
          </a:prstGeom>
          <a:noFill/>
        </p:spPr>
        <p:txBody>
          <a:bodyPr wrap="square">
            <a:spAutoFit/>
          </a:bodyPr>
          <a:lstStyle/>
          <a:p>
            <a:pPr algn="l"/>
            <a:r>
              <a:rPr sz="1100" b="1" i="0">
                <a:solidFill>
                  <a:srgbClr val="FFFFFF"/>
                </a:solidFill>
              </a:rPr>
              <a:t>The test: could a fixed rule do it?</a:t>
            </a:r>
          </a:p>
        </p:txBody>
      </p:sp>
      <p:sp>
        <p:nvSpPr>
          <p:cNvPr id="36" name="Rectangle 35"/>
          <p:cNvSpPr/>
          <p:nvPr/>
        </p:nvSpPr>
        <p:spPr>
          <a:xfrm>
            <a:off x="8275319" y="2176272"/>
            <a:ext cx="3749039" cy="822960"/>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412480" y="2249424"/>
            <a:ext cx="3520439" cy="694944"/>
          </a:xfrm>
          <a:prstGeom prst="rect">
            <a:avLst/>
          </a:prstGeom>
          <a:noFill/>
        </p:spPr>
        <p:txBody>
          <a:bodyPr wrap="square">
            <a:spAutoFit/>
          </a:bodyPr>
          <a:lstStyle/>
          <a:p>
            <a:pPr algn="l"/>
            <a:r>
              <a:rPr sz="1100" b="0" i="0">
                <a:solidFill>
                  <a:srgbClr val="2D2D2D"/>
                </a:solidFill>
              </a:rPr>
              <a:t>No — N changes based on live
pool state + urgency at ranking time</a:t>
            </a:r>
          </a:p>
        </p:txBody>
      </p:sp>
      <p:sp>
        <p:nvSpPr>
          <p:cNvPr id="38" name="Rectangle 37"/>
          <p:cNvSpPr/>
          <p:nvPr/>
        </p:nvSpPr>
        <p:spPr>
          <a:xfrm>
            <a:off x="8275319" y="3035808"/>
            <a:ext cx="3749039"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412480" y="3108960"/>
            <a:ext cx="3520439" cy="694944"/>
          </a:xfrm>
          <a:prstGeom prst="rect">
            <a:avLst/>
          </a:prstGeom>
          <a:noFill/>
        </p:spPr>
        <p:txBody>
          <a:bodyPr wrap="square">
            <a:spAutoFit/>
          </a:bodyPr>
          <a:lstStyle/>
          <a:p>
            <a:pPr algn="l"/>
            <a:r>
              <a:rPr sz="1100" b="0" i="0">
                <a:solidFill>
                  <a:srgbClr val="2D2D2D"/>
                </a:solidFill>
              </a:rPr>
              <a:t>No — weight combination varies
by urgency tier AND specialist flag</a:t>
            </a:r>
          </a:p>
        </p:txBody>
      </p:sp>
      <p:sp>
        <p:nvSpPr>
          <p:cNvPr id="40" name="Rectangle 39"/>
          <p:cNvSpPr/>
          <p:nvPr/>
        </p:nvSpPr>
        <p:spPr>
          <a:xfrm>
            <a:off x="8275319" y="3895344"/>
            <a:ext cx="3749039" cy="822960"/>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412480" y="3968496"/>
            <a:ext cx="3520439" cy="694944"/>
          </a:xfrm>
          <a:prstGeom prst="rect">
            <a:avLst/>
          </a:prstGeom>
          <a:noFill/>
        </p:spPr>
        <p:txBody>
          <a:bodyPr wrap="square">
            <a:spAutoFit/>
          </a:bodyPr>
          <a:lstStyle/>
          <a:p>
            <a:pPr algn="l"/>
            <a:r>
              <a:rPr sz="1100" b="0" i="0">
                <a:solidFill>
                  <a:srgbClr val="2D2D2D"/>
                </a:solidFill>
              </a:rPr>
              <a:t>No — requires real-time shared
state across concurrent fill cycles</a:t>
            </a:r>
          </a:p>
        </p:txBody>
      </p:sp>
      <p:sp>
        <p:nvSpPr>
          <p:cNvPr id="42" name="Rectangle 41"/>
          <p:cNvSpPr/>
          <p:nvPr/>
        </p:nvSpPr>
        <p:spPr>
          <a:xfrm>
            <a:off x="8275319" y="4754879"/>
            <a:ext cx="3749039"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412480" y="4828031"/>
            <a:ext cx="3520439" cy="694944"/>
          </a:xfrm>
          <a:prstGeom prst="rect">
            <a:avLst/>
          </a:prstGeom>
          <a:noFill/>
        </p:spPr>
        <p:txBody>
          <a:bodyPr wrap="square">
            <a:spAutoFit/>
          </a:bodyPr>
          <a:lstStyle/>
          <a:p>
            <a:pPr algn="l"/>
            <a:r>
              <a:rPr sz="1100" b="0" i="0">
                <a:solidFill>
                  <a:srgbClr val="2D2D2D"/>
                </a:solidFill>
              </a:rPr>
              <a:t>No — rationale is specific to
this candidate in this context</a:t>
            </a:r>
          </a:p>
        </p:txBody>
      </p:sp>
      <p:sp>
        <p:nvSpPr>
          <p:cNvPr id="44" name="Rectangle 43"/>
          <p:cNvSpPr/>
          <p:nvPr/>
        </p:nvSpPr>
        <p:spPr>
          <a:xfrm>
            <a:off x="8275319" y="5614416"/>
            <a:ext cx="3749039" cy="822960"/>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412480" y="5687568"/>
            <a:ext cx="3520439" cy="694944"/>
          </a:xfrm>
          <a:prstGeom prst="rect">
            <a:avLst/>
          </a:prstGeom>
          <a:noFill/>
        </p:spPr>
        <p:txBody>
          <a:bodyPr wrap="square">
            <a:spAutoFit/>
          </a:bodyPr>
          <a:lstStyle/>
          <a:p>
            <a:pPr algn="l"/>
            <a:r>
              <a:rPr sz="1100" b="0" i="0">
                <a:solidFill>
                  <a:srgbClr val="2D2D2D"/>
                </a:solidFill>
              </a:rPr>
              <a:t>No — a script errors or silently
wrong; agent explains and escalates</a:t>
            </a:r>
          </a:p>
        </p:txBody>
      </p:sp>
      <p:sp>
        <p:nvSpPr>
          <p:cNvPr id="46" name="Rectangle 45"/>
          <p:cNvSpPr/>
          <p:nvPr/>
        </p:nvSpPr>
        <p:spPr>
          <a:xfrm>
            <a:off x="411480" y="6473952"/>
            <a:ext cx="11365992" cy="329184"/>
          </a:xfrm>
          <a:prstGeom prst="rect">
            <a:avLst/>
          </a:prstGeom>
          <a:solidFill>
            <a:srgbClr val="1A7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94360" y="6519672"/>
            <a:ext cx="10972800" cy="237744"/>
          </a:xfrm>
          <a:prstGeom prst="rect">
            <a:avLst/>
          </a:prstGeom>
          <a:noFill/>
        </p:spPr>
        <p:txBody>
          <a:bodyPr wrap="square">
            <a:spAutoFit/>
          </a:bodyPr>
          <a:lstStyle/>
          <a:p>
            <a:pPr algn="l"/>
            <a:r>
              <a:rPr sz="1100" b="1" i="0">
                <a:solidFill>
                  <a:srgbClr val="FFFFFF"/>
                </a:solidFill>
              </a:rPr>
              <a:t>The agent value is the COMBINATION: simultaneous outreach + contextual ranking + real-time state awareness + explainable output. No single rule handles all four.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73152"/>
            <a:ext cx="11338560" cy="566928"/>
          </a:xfrm>
          <a:prstGeom prst="rect">
            <a:avLst/>
          </a:prstGeom>
          <a:noFill/>
        </p:spPr>
        <p:txBody>
          <a:bodyPr wrap="square">
            <a:spAutoFit/>
          </a:bodyPr>
          <a:lstStyle/>
          <a:p>
            <a:pPr algn="l"/>
            <a:r>
              <a:rPr sz="2600" b="1" i="0">
                <a:solidFill>
                  <a:srgbClr val="FFFFFF"/>
                </a:solidFill>
              </a:rPr>
              <a:t>The CEO's Two Failed AI Projects — How Is This Different?</a:t>
            </a:r>
          </a:p>
        </p:txBody>
      </p:sp>
      <p:sp>
        <p:nvSpPr>
          <p:cNvPr id="5" name="TextBox 4"/>
          <p:cNvSpPr txBox="1"/>
          <p:nvPr/>
        </p:nvSpPr>
        <p:spPr>
          <a:xfrm>
            <a:off x="411480" y="640080"/>
            <a:ext cx="11338560" cy="292608"/>
          </a:xfrm>
          <a:prstGeom prst="rect">
            <a:avLst/>
          </a:prstGeom>
          <a:noFill/>
        </p:spPr>
        <p:txBody>
          <a:bodyPr wrap="square">
            <a:spAutoFit/>
          </a:bodyPr>
          <a:lstStyle/>
          <a:p>
            <a:pPr algn="l"/>
            <a:r>
              <a:rPr sz="1200" b="0" i="1">
                <a:solidFill>
                  <a:srgbClr val="BBCCEE"/>
                </a:solidFill>
              </a:rPr>
              <a:t>AI projects fail in predictable ways. Here is how each one was addressed.</a:t>
            </a:r>
          </a:p>
        </p:txBody>
      </p:sp>
      <p:sp>
        <p:nvSpPr>
          <p:cNvPr id="6" name="TextBox 5"/>
          <p:cNvSpPr txBox="1"/>
          <p:nvPr/>
        </p:nvSpPr>
        <p:spPr>
          <a:xfrm>
            <a:off x="11430000" y="6565392"/>
            <a:ext cx="685800" cy="237744"/>
          </a:xfrm>
          <a:prstGeom prst="rect">
            <a:avLst/>
          </a:prstGeom>
          <a:noFill/>
        </p:spPr>
        <p:txBody>
          <a:bodyPr wrap="square">
            <a:spAutoFit/>
          </a:bodyPr>
          <a:lstStyle/>
          <a:p>
            <a:pPr algn="r"/>
            <a:r>
              <a:rPr sz="1000" b="0" i="0">
                <a:solidFill>
                  <a:srgbClr val="606060"/>
                </a:solidFill>
              </a:rPr>
              <a:t>4 / 6</a:t>
            </a:r>
          </a:p>
        </p:txBody>
      </p:sp>
      <p:sp>
        <p:nvSpPr>
          <p:cNvPr id="7" name="TextBox 6"/>
          <p:cNvSpPr txBox="1"/>
          <p:nvPr/>
        </p:nvSpPr>
        <p:spPr>
          <a:xfrm>
            <a:off x="411480" y="1024128"/>
            <a:ext cx="5303520" cy="292608"/>
          </a:xfrm>
          <a:prstGeom prst="rect">
            <a:avLst/>
          </a:prstGeom>
          <a:noFill/>
        </p:spPr>
        <p:txBody>
          <a:bodyPr wrap="square">
            <a:spAutoFit/>
          </a:bodyPr>
          <a:lstStyle/>
          <a:p>
            <a:pPr algn="l"/>
            <a:r>
              <a:rPr sz="1200" b="1" i="0">
                <a:solidFill>
                  <a:srgbClr val="BF352A"/>
                </a:solidFill>
              </a:rPr>
              <a:t>Common failure</a:t>
            </a:r>
          </a:p>
        </p:txBody>
      </p:sp>
      <p:sp>
        <p:nvSpPr>
          <p:cNvPr id="8" name="TextBox 7"/>
          <p:cNvSpPr txBox="1"/>
          <p:nvPr/>
        </p:nvSpPr>
        <p:spPr>
          <a:xfrm>
            <a:off x="6492240" y="1024128"/>
            <a:ext cx="5440680" cy="292608"/>
          </a:xfrm>
          <a:prstGeom prst="rect">
            <a:avLst/>
          </a:prstGeom>
          <a:noFill/>
        </p:spPr>
        <p:txBody>
          <a:bodyPr wrap="square">
            <a:spAutoFit/>
          </a:bodyPr>
          <a:lstStyle/>
          <a:p>
            <a:pPr algn="l"/>
            <a:r>
              <a:rPr sz="1200" b="1" i="0">
                <a:solidFill>
                  <a:srgbClr val="1A7A3C"/>
                </a:solidFill>
              </a:rPr>
              <a:t>What MedFlex does instead</a:t>
            </a:r>
          </a:p>
        </p:txBody>
      </p:sp>
      <p:sp>
        <p:nvSpPr>
          <p:cNvPr id="9" name="Rectangle 8"/>
          <p:cNvSpPr/>
          <p:nvPr/>
        </p:nvSpPr>
        <p:spPr>
          <a:xfrm>
            <a:off x="411480" y="1316736"/>
            <a:ext cx="11365992" cy="18288"/>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1389888"/>
            <a:ext cx="11365992" cy="1005840"/>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11480" y="1389888"/>
            <a:ext cx="109728" cy="1005840"/>
          </a:xfrm>
          <a:prstGeom prst="rect">
            <a:avLst/>
          </a:prstGeom>
          <a:solidFill>
            <a:srgbClr val="BF3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6208" y="1389888"/>
            <a:ext cx="36576" cy="100584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72784" y="1389888"/>
            <a:ext cx="109728" cy="1005840"/>
          </a:xfrm>
          <a:prstGeom prst="rect">
            <a:avLst/>
          </a:prstGeom>
          <a:solidFill>
            <a:srgbClr val="1A7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1499616"/>
            <a:ext cx="5394960" cy="786384"/>
          </a:xfrm>
          <a:prstGeom prst="rect">
            <a:avLst/>
          </a:prstGeom>
          <a:noFill/>
        </p:spPr>
        <p:txBody>
          <a:bodyPr wrap="square">
            <a:spAutoFit/>
          </a:bodyPr>
          <a:lstStyle/>
          <a:p>
            <a:pPr algn="l"/>
            <a:r>
              <a:rPr sz="1200" b="1" i="0">
                <a:solidFill>
                  <a:srgbClr val="2D2D2D"/>
                </a:solidFill>
              </a:rPr>
              <a:t>Automated the wrong thing — solved a problem nobody had</a:t>
            </a:r>
          </a:p>
        </p:txBody>
      </p:sp>
      <p:sp>
        <p:nvSpPr>
          <p:cNvPr id="15" name="TextBox 14"/>
          <p:cNvSpPr txBox="1"/>
          <p:nvPr/>
        </p:nvSpPr>
        <p:spPr>
          <a:xfrm>
            <a:off x="6528816" y="1499616"/>
            <a:ext cx="5394960" cy="786384"/>
          </a:xfrm>
          <a:prstGeom prst="rect">
            <a:avLst/>
          </a:prstGeom>
          <a:noFill/>
        </p:spPr>
        <p:txBody>
          <a:bodyPr wrap="square">
            <a:spAutoFit/>
          </a:bodyPr>
          <a:lstStyle/>
          <a:p>
            <a:pPr algn="l"/>
            <a:r>
              <a:rPr sz="1200" b="0" i="0">
                <a:solidFill>
                  <a:srgbClr val="606060"/>
                </a:solidFill>
              </a:rPr>
              <a:t>The bottleneck is real and measured: coordinators spend fill windows on sequential manual contact. The two capabilities target fill time directly.</a:t>
            </a:r>
          </a:p>
        </p:txBody>
      </p:sp>
      <p:sp>
        <p:nvSpPr>
          <p:cNvPr id="16" name="Rectangle 15"/>
          <p:cNvSpPr/>
          <p:nvPr/>
        </p:nvSpPr>
        <p:spPr>
          <a:xfrm>
            <a:off x="411480" y="2432304"/>
            <a:ext cx="11365992" cy="1005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11480" y="2432304"/>
            <a:ext cx="109728" cy="1005840"/>
          </a:xfrm>
          <a:prstGeom prst="rect">
            <a:avLst/>
          </a:prstGeom>
          <a:solidFill>
            <a:srgbClr val="BF3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36208" y="2432304"/>
            <a:ext cx="36576" cy="100584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72784" y="2432304"/>
            <a:ext cx="109728" cy="1005840"/>
          </a:xfrm>
          <a:prstGeom prst="rect">
            <a:avLst/>
          </a:prstGeom>
          <a:solidFill>
            <a:srgbClr val="1A7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2542032"/>
            <a:ext cx="5394960" cy="786384"/>
          </a:xfrm>
          <a:prstGeom prst="rect">
            <a:avLst/>
          </a:prstGeom>
          <a:noFill/>
        </p:spPr>
        <p:txBody>
          <a:bodyPr wrap="square">
            <a:spAutoFit/>
          </a:bodyPr>
          <a:lstStyle/>
          <a:p>
            <a:pPr algn="l"/>
            <a:r>
              <a:rPr sz="1200" b="1" i="0">
                <a:solidFill>
                  <a:srgbClr val="2D2D2D"/>
                </a:solidFill>
              </a:rPr>
              <a:t>Black box — nobody could see why it made decisions</a:t>
            </a:r>
          </a:p>
        </p:txBody>
      </p:sp>
      <p:sp>
        <p:nvSpPr>
          <p:cNvPr id="21" name="TextBox 20"/>
          <p:cNvSpPr txBox="1"/>
          <p:nvPr/>
        </p:nvSpPr>
        <p:spPr>
          <a:xfrm>
            <a:off x="6528816" y="2542032"/>
            <a:ext cx="5394960" cy="786384"/>
          </a:xfrm>
          <a:prstGeom prst="rect">
            <a:avLst/>
          </a:prstGeom>
          <a:noFill/>
        </p:spPr>
        <p:txBody>
          <a:bodyPr wrap="square">
            <a:spAutoFit/>
          </a:bodyPr>
          <a:lstStyle/>
          <a:p>
            <a:pPr algn="l"/>
            <a:r>
              <a:rPr sz="1200" b="0" i="0">
                <a:solidFill>
                  <a:srgbClr val="606060"/>
                </a:solidFill>
              </a:rPr>
              <a:t>Every ranked candidate has a written rationale the coordinator reads before approving. The coordinator sees why, can override, and that override is logged.</a:t>
            </a:r>
          </a:p>
        </p:txBody>
      </p:sp>
      <p:sp>
        <p:nvSpPr>
          <p:cNvPr id="22" name="Rectangle 21"/>
          <p:cNvSpPr/>
          <p:nvPr/>
        </p:nvSpPr>
        <p:spPr>
          <a:xfrm>
            <a:off x="411480" y="3474720"/>
            <a:ext cx="11365992" cy="1005840"/>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11480" y="3474720"/>
            <a:ext cx="109728" cy="1005840"/>
          </a:xfrm>
          <a:prstGeom prst="rect">
            <a:avLst/>
          </a:prstGeom>
          <a:solidFill>
            <a:srgbClr val="BF3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36208" y="3474720"/>
            <a:ext cx="36576" cy="100584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72784" y="3474720"/>
            <a:ext cx="109728" cy="1005840"/>
          </a:xfrm>
          <a:prstGeom prst="rect">
            <a:avLst/>
          </a:prstGeom>
          <a:solidFill>
            <a:srgbClr val="1A7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368" y="3584448"/>
            <a:ext cx="5394960" cy="786384"/>
          </a:xfrm>
          <a:prstGeom prst="rect">
            <a:avLst/>
          </a:prstGeom>
          <a:noFill/>
        </p:spPr>
        <p:txBody>
          <a:bodyPr wrap="square">
            <a:spAutoFit/>
          </a:bodyPr>
          <a:lstStyle/>
          <a:p>
            <a:pPr algn="l"/>
            <a:r>
              <a:rPr sz="1200" b="1" i="0">
                <a:solidFill>
                  <a:srgbClr val="2D2D2D"/>
                </a:solidFill>
              </a:rPr>
              <a:t>Removed humans from decisions they needed to own</a:t>
            </a:r>
          </a:p>
        </p:txBody>
      </p:sp>
      <p:sp>
        <p:nvSpPr>
          <p:cNvPr id="27" name="TextBox 26"/>
          <p:cNvSpPr txBox="1"/>
          <p:nvPr/>
        </p:nvSpPr>
        <p:spPr>
          <a:xfrm>
            <a:off x="6528816" y="3584448"/>
            <a:ext cx="5394960" cy="786384"/>
          </a:xfrm>
          <a:prstGeom prst="rect">
            <a:avLst/>
          </a:prstGeom>
          <a:noFill/>
        </p:spPr>
        <p:txBody>
          <a:bodyPr wrap="square">
            <a:spAutoFit/>
          </a:bodyPr>
          <a:lstStyle/>
          <a:p>
            <a:pPr algn="l"/>
            <a:r>
              <a:rPr sz="1200" b="0" i="0">
                <a:solidFill>
                  <a:srgbClr val="606060"/>
                </a:solidFill>
              </a:rPr>
              <a:t>The coordinator approves every placement. The agent never contacts the hospital. Kim's team owns the hospital relationship — the agent does not touch it.</a:t>
            </a:r>
          </a:p>
        </p:txBody>
      </p:sp>
      <p:sp>
        <p:nvSpPr>
          <p:cNvPr id="28" name="Rectangle 27"/>
          <p:cNvSpPr/>
          <p:nvPr/>
        </p:nvSpPr>
        <p:spPr>
          <a:xfrm>
            <a:off x="411480" y="4517136"/>
            <a:ext cx="11365992" cy="1005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11480" y="4517136"/>
            <a:ext cx="109728" cy="1005840"/>
          </a:xfrm>
          <a:prstGeom prst="rect">
            <a:avLst/>
          </a:prstGeom>
          <a:solidFill>
            <a:srgbClr val="BF3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236208" y="4517136"/>
            <a:ext cx="36576" cy="100584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272784" y="4517136"/>
            <a:ext cx="109728" cy="1005840"/>
          </a:xfrm>
          <a:prstGeom prst="rect">
            <a:avLst/>
          </a:prstGeom>
          <a:solidFill>
            <a:srgbClr val="1A7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8368" y="4626864"/>
            <a:ext cx="5394960" cy="786384"/>
          </a:xfrm>
          <a:prstGeom prst="rect">
            <a:avLst/>
          </a:prstGeom>
          <a:noFill/>
        </p:spPr>
        <p:txBody>
          <a:bodyPr wrap="square">
            <a:spAutoFit/>
          </a:bodyPr>
          <a:lstStyle/>
          <a:p>
            <a:pPr algn="l"/>
            <a:r>
              <a:rPr sz="1200" b="1" i="0">
                <a:solidFill>
                  <a:srgbClr val="2D2D2D"/>
                </a:solidFill>
              </a:rPr>
              <a:t>Launched too big — no recovery when it went wrong</a:t>
            </a:r>
          </a:p>
        </p:txBody>
      </p:sp>
      <p:sp>
        <p:nvSpPr>
          <p:cNvPr id="33" name="TextBox 32"/>
          <p:cNvSpPr txBox="1"/>
          <p:nvPr/>
        </p:nvSpPr>
        <p:spPr>
          <a:xfrm>
            <a:off x="6528816" y="4626864"/>
            <a:ext cx="5394960" cy="786384"/>
          </a:xfrm>
          <a:prstGeom prst="rect">
            <a:avLst/>
          </a:prstGeom>
          <a:noFill/>
        </p:spPr>
        <p:txBody>
          <a:bodyPr wrap="square">
            <a:spAutoFit/>
          </a:bodyPr>
          <a:lstStyle/>
          <a:p>
            <a:pPr algn="l"/>
            <a:r>
              <a:rPr sz="1200" b="0" i="0">
                <a:solidFill>
                  <a:srgbClr val="606060"/>
                </a:solidFill>
              </a:rPr>
              <a:t>Wave 1 is 2–3 coordinators, standard fills only, established accounts. It is small enough to stop and reverse without damaging live operations.</a:t>
            </a:r>
          </a:p>
        </p:txBody>
      </p:sp>
      <p:sp>
        <p:nvSpPr>
          <p:cNvPr id="34" name="Rectangle 33"/>
          <p:cNvSpPr/>
          <p:nvPr/>
        </p:nvSpPr>
        <p:spPr>
          <a:xfrm>
            <a:off x="411480" y="5559552"/>
            <a:ext cx="11365992" cy="1005840"/>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11480" y="5559552"/>
            <a:ext cx="109728" cy="1005840"/>
          </a:xfrm>
          <a:prstGeom prst="rect">
            <a:avLst/>
          </a:prstGeom>
          <a:solidFill>
            <a:srgbClr val="BF3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36208" y="5559552"/>
            <a:ext cx="36576" cy="100584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272784" y="5559552"/>
            <a:ext cx="109728" cy="1005840"/>
          </a:xfrm>
          <a:prstGeom prst="rect">
            <a:avLst/>
          </a:prstGeom>
          <a:solidFill>
            <a:srgbClr val="1A7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58368" y="5669280"/>
            <a:ext cx="5394960" cy="786384"/>
          </a:xfrm>
          <a:prstGeom prst="rect">
            <a:avLst/>
          </a:prstGeom>
          <a:noFill/>
        </p:spPr>
        <p:txBody>
          <a:bodyPr wrap="square">
            <a:spAutoFit/>
          </a:bodyPr>
          <a:lstStyle/>
          <a:p>
            <a:pPr algn="l"/>
            <a:r>
              <a:rPr sz="1200" b="1" i="0">
                <a:solidFill>
                  <a:srgbClr val="2D2D2D"/>
                </a:solidFill>
              </a:rPr>
              <a:t>No success criteria — nobody knew if it was working</a:t>
            </a:r>
          </a:p>
        </p:txBody>
      </p:sp>
      <p:sp>
        <p:nvSpPr>
          <p:cNvPr id="39" name="TextBox 38"/>
          <p:cNvSpPr txBox="1"/>
          <p:nvPr/>
        </p:nvSpPr>
        <p:spPr>
          <a:xfrm>
            <a:off x="6528816" y="5669280"/>
            <a:ext cx="5394960" cy="786384"/>
          </a:xfrm>
          <a:prstGeom prst="rect">
            <a:avLst/>
          </a:prstGeom>
          <a:noFill/>
        </p:spPr>
        <p:txBody>
          <a:bodyPr wrap="square">
            <a:spAutoFit/>
          </a:bodyPr>
          <a:lstStyle/>
          <a:p>
            <a:pPr algn="l"/>
            <a:r>
              <a:rPr sz="1200" b="0" i="0">
                <a:solidFill>
                  <a:srgbClr val="606060"/>
                </a:solidFill>
              </a:rPr>
              <a:t>First-recommendation acceptance rate ≥90% over 60 days triggers Wave 2. If that threshold is not hit, Wave 2 does not start. The test is defined before build.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73152"/>
            <a:ext cx="11338560" cy="566928"/>
          </a:xfrm>
          <a:prstGeom prst="rect">
            <a:avLst/>
          </a:prstGeom>
          <a:noFill/>
        </p:spPr>
        <p:txBody>
          <a:bodyPr wrap="square">
            <a:spAutoFit/>
          </a:bodyPr>
          <a:lstStyle/>
          <a:p>
            <a:pPr algn="l"/>
            <a:r>
              <a:rPr sz="2600" b="1" i="0">
                <a:solidFill>
                  <a:srgbClr val="FFFFFF"/>
                </a:solidFill>
              </a:rPr>
              <a:t>What Kills This in Production?</a:t>
            </a:r>
          </a:p>
        </p:txBody>
      </p:sp>
      <p:sp>
        <p:nvSpPr>
          <p:cNvPr id="5" name="TextBox 4"/>
          <p:cNvSpPr txBox="1"/>
          <p:nvPr/>
        </p:nvSpPr>
        <p:spPr>
          <a:xfrm>
            <a:off x="411480" y="640080"/>
            <a:ext cx="11338560" cy="292608"/>
          </a:xfrm>
          <a:prstGeom prst="rect">
            <a:avLst/>
          </a:prstGeom>
          <a:noFill/>
        </p:spPr>
        <p:txBody>
          <a:bodyPr wrap="square">
            <a:spAutoFit/>
          </a:bodyPr>
          <a:lstStyle/>
          <a:p>
            <a:pPr algn="l"/>
            <a:r>
              <a:rPr sz="1200" b="0" i="1">
                <a:solidFill>
                  <a:srgbClr val="BBCCEE"/>
                </a:solidFill>
              </a:rPr>
              <a:t>Three honest failure modes — identified before build, not after.</a:t>
            </a:r>
          </a:p>
        </p:txBody>
      </p:sp>
      <p:sp>
        <p:nvSpPr>
          <p:cNvPr id="6" name="TextBox 5"/>
          <p:cNvSpPr txBox="1"/>
          <p:nvPr/>
        </p:nvSpPr>
        <p:spPr>
          <a:xfrm>
            <a:off x="11430000" y="6565392"/>
            <a:ext cx="685800" cy="237744"/>
          </a:xfrm>
          <a:prstGeom prst="rect">
            <a:avLst/>
          </a:prstGeom>
          <a:noFill/>
        </p:spPr>
        <p:txBody>
          <a:bodyPr wrap="square">
            <a:spAutoFit/>
          </a:bodyPr>
          <a:lstStyle/>
          <a:p>
            <a:pPr algn="r"/>
            <a:r>
              <a:rPr sz="1000" b="0" i="0">
                <a:solidFill>
                  <a:srgbClr val="606060"/>
                </a:solidFill>
              </a:rPr>
              <a:t>5 / 6</a:t>
            </a:r>
          </a:p>
        </p:txBody>
      </p:sp>
      <p:sp>
        <p:nvSpPr>
          <p:cNvPr id="7" name="TextBox 6"/>
          <p:cNvSpPr txBox="1"/>
          <p:nvPr/>
        </p:nvSpPr>
        <p:spPr>
          <a:xfrm>
            <a:off x="411480" y="1042415"/>
            <a:ext cx="11365992" cy="329184"/>
          </a:xfrm>
          <a:prstGeom prst="rect">
            <a:avLst/>
          </a:prstGeom>
          <a:noFill/>
        </p:spPr>
        <p:txBody>
          <a:bodyPr wrap="square">
            <a:spAutoFit/>
          </a:bodyPr>
          <a:lstStyle/>
          <a:p>
            <a:pPr algn="l"/>
            <a:r>
              <a:rPr sz="1300" b="0" i="1">
                <a:solidFill>
                  <a:srgbClr val="2D2D2D"/>
                </a:solidFill>
              </a:rPr>
              <a:t>These were identified in the validation plan. Two have designed mitigations. One is the real risk.</a:t>
            </a:r>
          </a:p>
        </p:txBody>
      </p:sp>
      <p:sp>
        <p:nvSpPr>
          <p:cNvPr id="8" name="Rectangle 7"/>
          <p:cNvSpPr/>
          <p:nvPr/>
        </p:nvSpPr>
        <p:spPr>
          <a:xfrm>
            <a:off x="411480" y="1463040"/>
            <a:ext cx="11365992" cy="1627632"/>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11480" y="1463040"/>
            <a:ext cx="109728" cy="1627632"/>
          </a:xfrm>
          <a:prstGeom prst="rect">
            <a:avLst/>
          </a:prstGeom>
          <a:solidFill>
            <a:srgbClr val="CC8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1572768"/>
            <a:ext cx="1005840" cy="347472"/>
          </a:xfrm>
          <a:prstGeom prst="rect">
            <a:avLst/>
          </a:prstGeom>
          <a:solidFill>
            <a:srgbClr val="CC8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609344"/>
            <a:ext cx="1005840" cy="310896"/>
          </a:xfrm>
          <a:prstGeom prst="rect">
            <a:avLst/>
          </a:prstGeom>
          <a:noFill/>
        </p:spPr>
        <p:txBody>
          <a:bodyPr wrap="square">
            <a:spAutoFit/>
          </a:bodyPr>
          <a:lstStyle/>
          <a:p>
            <a:pPr algn="ctr"/>
            <a:r>
              <a:rPr sz="1100" b="1" i="0">
                <a:solidFill>
                  <a:srgbClr val="FFFFFF"/>
                </a:solidFill>
              </a:rPr>
              <a:t>MEDIUM</a:t>
            </a:r>
          </a:p>
        </p:txBody>
      </p:sp>
      <p:sp>
        <p:nvSpPr>
          <p:cNvPr id="12" name="TextBox 11"/>
          <p:cNvSpPr txBox="1"/>
          <p:nvPr/>
        </p:nvSpPr>
        <p:spPr>
          <a:xfrm>
            <a:off x="1783080" y="1572768"/>
            <a:ext cx="9829800" cy="347472"/>
          </a:xfrm>
          <a:prstGeom prst="rect">
            <a:avLst/>
          </a:prstGeom>
          <a:noFill/>
        </p:spPr>
        <p:txBody>
          <a:bodyPr wrap="square">
            <a:spAutoFit/>
          </a:bodyPr>
          <a:lstStyle/>
          <a:p>
            <a:pPr algn="l"/>
            <a:r>
              <a:rPr sz="1400" b="1" i="0">
                <a:solidFill>
                  <a:srgbClr val="2D2D2D"/>
                </a:solidFill>
              </a:rPr>
              <a:t>Concurrent fill state inconsistency</a:t>
            </a:r>
          </a:p>
        </p:txBody>
      </p:sp>
      <p:sp>
        <p:nvSpPr>
          <p:cNvPr id="13" name="TextBox 12"/>
          <p:cNvSpPr txBox="1"/>
          <p:nvPr/>
        </p:nvSpPr>
        <p:spPr>
          <a:xfrm>
            <a:off x="658368" y="1993392"/>
            <a:ext cx="5577840" cy="1005840"/>
          </a:xfrm>
          <a:prstGeom prst="rect">
            <a:avLst/>
          </a:prstGeom>
          <a:noFill/>
        </p:spPr>
        <p:txBody>
          <a:bodyPr wrap="square">
            <a:spAutoFit/>
          </a:bodyPr>
          <a:lstStyle/>
          <a:p>
            <a:pPr algn="l"/>
            <a:r>
              <a:rPr sz="1200" b="0" i="0">
                <a:solidFill>
                  <a:srgbClr val="2D2D2D"/>
                </a:solidFill>
              </a:rPr>
              <a:t>If two fills run simultaneously and shared state has a stale read, a nurse already committed to one fill gets contacted for a second. The outreach window for the second fill is wasted.</a:t>
            </a:r>
          </a:p>
        </p:txBody>
      </p:sp>
      <p:sp>
        <p:nvSpPr>
          <p:cNvPr id="14" name="Rectangle 13"/>
          <p:cNvSpPr/>
          <p:nvPr/>
        </p:nvSpPr>
        <p:spPr>
          <a:xfrm>
            <a:off x="6291072" y="1920240"/>
            <a:ext cx="36576" cy="109728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73952" y="1993392"/>
            <a:ext cx="5166360" cy="1005840"/>
          </a:xfrm>
          <a:prstGeom prst="rect">
            <a:avLst/>
          </a:prstGeom>
          <a:noFill/>
        </p:spPr>
        <p:txBody>
          <a:bodyPr wrap="square">
            <a:spAutoFit/>
          </a:bodyPr>
          <a:lstStyle/>
          <a:p>
            <a:pPr algn="l"/>
            <a:r>
              <a:rPr sz="1100" b="0" i="1">
                <a:solidFill>
                  <a:srgbClr val="606060"/>
                </a:solidFill>
              </a:rPr>
              <a:t>Designed for: fallback to database flag per nurse if shared state unavailable. Coordinator is notified when state could not be confirmed. Not fully testable before live volume.</a:t>
            </a:r>
          </a:p>
        </p:txBody>
      </p:sp>
      <p:sp>
        <p:nvSpPr>
          <p:cNvPr id="16" name="Rectangle 15"/>
          <p:cNvSpPr/>
          <p:nvPr/>
        </p:nvSpPr>
        <p:spPr>
          <a:xfrm>
            <a:off x="411480" y="3154680"/>
            <a:ext cx="11365992" cy="16276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11480" y="3154680"/>
            <a:ext cx="109728" cy="1627632"/>
          </a:xfrm>
          <a:prstGeom prst="rect">
            <a:avLst/>
          </a:prstGeom>
          <a:solidFill>
            <a:srgbClr val="CC8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0080" y="3264408"/>
            <a:ext cx="1005840" cy="347472"/>
          </a:xfrm>
          <a:prstGeom prst="rect">
            <a:avLst/>
          </a:prstGeom>
          <a:solidFill>
            <a:srgbClr val="CC8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3300984"/>
            <a:ext cx="1005840" cy="310896"/>
          </a:xfrm>
          <a:prstGeom prst="rect">
            <a:avLst/>
          </a:prstGeom>
          <a:noFill/>
        </p:spPr>
        <p:txBody>
          <a:bodyPr wrap="square">
            <a:spAutoFit/>
          </a:bodyPr>
          <a:lstStyle/>
          <a:p>
            <a:pPr algn="ctr"/>
            <a:r>
              <a:rPr sz="1100" b="1" i="0">
                <a:solidFill>
                  <a:srgbClr val="FFFFFF"/>
                </a:solidFill>
              </a:rPr>
              <a:t>MEDIUM</a:t>
            </a:r>
          </a:p>
        </p:txBody>
      </p:sp>
      <p:sp>
        <p:nvSpPr>
          <p:cNvPr id="20" name="TextBox 19"/>
          <p:cNvSpPr txBox="1"/>
          <p:nvPr/>
        </p:nvSpPr>
        <p:spPr>
          <a:xfrm>
            <a:off x="1783080" y="3264408"/>
            <a:ext cx="9829800" cy="347472"/>
          </a:xfrm>
          <a:prstGeom prst="rect">
            <a:avLst/>
          </a:prstGeom>
          <a:noFill/>
        </p:spPr>
        <p:txBody>
          <a:bodyPr wrap="square">
            <a:spAutoFit/>
          </a:bodyPr>
          <a:lstStyle/>
          <a:p>
            <a:pPr algn="l"/>
            <a:r>
              <a:rPr sz="1400" b="1" i="0">
                <a:solidFill>
                  <a:srgbClr val="2D2D2D"/>
                </a:solidFill>
              </a:rPr>
              <a:t>Nurse confirms via a different channel than contacted</a:t>
            </a:r>
          </a:p>
        </p:txBody>
      </p:sp>
      <p:sp>
        <p:nvSpPr>
          <p:cNvPr id="21" name="TextBox 20"/>
          <p:cNvSpPr txBox="1"/>
          <p:nvPr/>
        </p:nvSpPr>
        <p:spPr>
          <a:xfrm>
            <a:off x="658368" y="3685032"/>
            <a:ext cx="5577840" cy="1005840"/>
          </a:xfrm>
          <a:prstGeom prst="rect">
            <a:avLst/>
          </a:prstGeom>
          <a:noFill/>
        </p:spPr>
        <p:txBody>
          <a:bodyPr wrap="square">
            <a:spAutoFit/>
          </a:bodyPr>
          <a:lstStyle/>
          <a:p>
            <a:pPr algn="l"/>
            <a:r>
              <a:rPr sz="1200" b="0" i="0">
                <a:solidFill>
                  <a:srgbClr val="2D2D2D"/>
                </a:solidFill>
              </a:rPr>
              <a:t>Nurse is contacted by SMS and calls the coordinator directly. The system does not detect the confirmation. Outreach window expires. Next candidate is contacted. If the first nurse shows up, the shift may be double-placed.</a:t>
            </a:r>
          </a:p>
        </p:txBody>
      </p:sp>
      <p:sp>
        <p:nvSpPr>
          <p:cNvPr id="22" name="Rectangle 21"/>
          <p:cNvSpPr/>
          <p:nvPr/>
        </p:nvSpPr>
        <p:spPr>
          <a:xfrm>
            <a:off x="6291072" y="3611880"/>
            <a:ext cx="36576" cy="109728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73952" y="3685032"/>
            <a:ext cx="5166360" cy="1005840"/>
          </a:xfrm>
          <a:prstGeom prst="rect">
            <a:avLst/>
          </a:prstGeom>
          <a:noFill/>
        </p:spPr>
        <p:txBody>
          <a:bodyPr wrap="square">
            <a:spAutoFit/>
          </a:bodyPr>
          <a:lstStyle/>
          <a:p>
            <a:pPr algn="l"/>
            <a:r>
              <a:rPr sz="1100" b="0" i="1">
                <a:solidFill>
                  <a:srgbClr val="606060"/>
                </a:solidFill>
              </a:rPr>
              <a:t>Designed for: noted as a known production failure mode in the validation plan. Cannot be tested before live operation — depends on nurse behaviour patterns.</a:t>
            </a:r>
          </a:p>
        </p:txBody>
      </p:sp>
      <p:sp>
        <p:nvSpPr>
          <p:cNvPr id="24" name="Rectangle 23"/>
          <p:cNvSpPr/>
          <p:nvPr/>
        </p:nvSpPr>
        <p:spPr>
          <a:xfrm>
            <a:off x="411480" y="4846320"/>
            <a:ext cx="11365992" cy="1627632"/>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11480" y="4846320"/>
            <a:ext cx="109728" cy="1627632"/>
          </a:xfrm>
          <a:prstGeom prst="rect">
            <a:avLst/>
          </a:prstGeom>
          <a:solidFill>
            <a:srgbClr val="BF3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40080" y="4956048"/>
            <a:ext cx="1005840" cy="347472"/>
          </a:xfrm>
          <a:prstGeom prst="rect">
            <a:avLst/>
          </a:prstGeom>
          <a:solidFill>
            <a:srgbClr val="BF3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 y="4992624"/>
            <a:ext cx="1005840" cy="310896"/>
          </a:xfrm>
          <a:prstGeom prst="rect">
            <a:avLst/>
          </a:prstGeom>
          <a:noFill/>
        </p:spPr>
        <p:txBody>
          <a:bodyPr wrap="square">
            <a:spAutoFit/>
          </a:bodyPr>
          <a:lstStyle/>
          <a:p>
            <a:pPr algn="ctr"/>
            <a:r>
              <a:rPr sz="1100" b="1" i="0">
                <a:solidFill>
                  <a:srgbClr val="FFFFFF"/>
                </a:solidFill>
              </a:rPr>
              <a:t>HIGH</a:t>
            </a:r>
          </a:p>
        </p:txBody>
      </p:sp>
      <p:sp>
        <p:nvSpPr>
          <p:cNvPr id="28" name="TextBox 27"/>
          <p:cNvSpPr txBox="1"/>
          <p:nvPr/>
        </p:nvSpPr>
        <p:spPr>
          <a:xfrm>
            <a:off x="1783080" y="4956048"/>
            <a:ext cx="9829800" cy="347472"/>
          </a:xfrm>
          <a:prstGeom prst="rect">
            <a:avLst/>
          </a:prstGeom>
          <a:noFill/>
        </p:spPr>
        <p:txBody>
          <a:bodyPr wrap="square">
            <a:spAutoFit/>
          </a:bodyPr>
          <a:lstStyle/>
          <a:p>
            <a:pPr algn="l"/>
            <a:r>
              <a:rPr sz="1400" b="1" i="0">
                <a:solidFill>
                  <a:srgbClr val="2D2D2D"/>
                </a:solidFill>
              </a:rPr>
              <a:t>CRM data sparsity — the silent killer</a:t>
            </a:r>
          </a:p>
        </p:txBody>
      </p:sp>
      <p:sp>
        <p:nvSpPr>
          <p:cNvPr id="29" name="TextBox 28"/>
          <p:cNvSpPr txBox="1"/>
          <p:nvPr/>
        </p:nvSpPr>
        <p:spPr>
          <a:xfrm>
            <a:off x="658368" y="5376672"/>
            <a:ext cx="5577840" cy="1005840"/>
          </a:xfrm>
          <a:prstGeom prst="rect">
            <a:avLst/>
          </a:prstGeom>
          <a:noFill/>
        </p:spPr>
        <p:txBody>
          <a:bodyPr wrap="square">
            <a:spAutoFit/>
          </a:bodyPr>
          <a:lstStyle/>
          <a:p>
            <a:pPr algn="l"/>
            <a:r>
              <a:rPr sz="1200" b="0" i="0">
                <a:solidFill>
                  <a:srgbClr val="2D2D2D"/>
                </a:solidFill>
              </a:rPr>
              <a:t>If coordinators have not consistently logged response rates and no-show history, the ranking agent operates on credentials and proximity only. The rationale thins. Coordinators increasingly override. Acceptance rate never reaches 90%. Wave 2 never starts.</a:t>
            </a:r>
          </a:p>
        </p:txBody>
      </p:sp>
      <p:sp>
        <p:nvSpPr>
          <p:cNvPr id="30" name="Rectangle 29"/>
          <p:cNvSpPr/>
          <p:nvPr/>
        </p:nvSpPr>
        <p:spPr>
          <a:xfrm>
            <a:off x="6291072" y="5303520"/>
            <a:ext cx="36576" cy="109728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73952" y="5376672"/>
            <a:ext cx="5166360" cy="1005840"/>
          </a:xfrm>
          <a:prstGeom prst="rect">
            <a:avLst/>
          </a:prstGeom>
          <a:noFill/>
        </p:spPr>
        <p:txBody>
          <a:bodyPr wrap="square">
            <a:spAutoFit/>
          </a:bodyPr>
          <a:lstStyle/>
          <a:p>
            <a:pPr algn="l"/>
            <a:r>
              <a:rPr sz="1100" b="0" i="1">
                <a:solidFill>
                  <a:srgbClr val="606060"/>
                </a:solidFill>
              </a:rPr>
              <a:t>This is the most likely real failure. The system works correctly by its own logic while producing rankings coordinators do not trust. It fails silently.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73152"/>
            <a:ext cx="11338560" cy="566928"/>
          </a:xfrm>
          <a:prstGeom prst="rect">
            <a:avLst/>
          </a:prstGeom>
          <a:noFill/>
        </p:spPr>
        <p:txBody>
          <a:bodyPr wrap="square">
            <a:spAutoFit/>
          </a:bodyPr>
          <a:lstStyle/>
          <a:p>
            <a:pPr algn="l"/>
            <a:r>
              <a:rPr sz="2600" b="1" i="0">
                <a:solidFill>
                  <a:srgbClr val="FFFFFF"/>
                </a:solidFill>
              </a:rPr>
              <a:t>The Honest Trade-offs</a:t>
            </a:r>
          </a:p>
        </p:txBody>
      </p:sp>
      <p:sp>
        <p:nvSpPr>
          <p:cNvPr id="5" name="TextBox 4"/>
          <p:cNvSpPr txBox="1"/>
          <p:nvPr/>
        </p:nvSpPr>
        <p:spPr>
          <a:xfrm>
            <a:off x="411480" y="640080"/>
            <a:ext cx="11338560" cy="292608"/>
          </a:xfrm>
          <a:prstGeom prst="rect">
            <a:avLst/>
          </a:prstGeom>
          <a:noFill/>
        </p:spPr>
        <p:txBody>
          <a:bodyPr wrap="square">
            <a:spAutoFit/>
          </a:bodyPr>
          <a:lstStyle/>
          <a:p>
            <a:pPr algn="l"/>
            <a:r>
              <a:rPr sz="1200" b="0" i="1">
                <a:solidFill>
                  <a:srgbClr val="BBCCEE"/>
                </a:solidFill>
              </a:rPr>
              <a:t>What we are confident about. What we are not. What would change the design.</a:t>
            </a:r>
          </a:p>
        </p:txBody>
      </p:sp>
      <p:sp>
        <p:nvSpPr>
          <p:cNvPr id="6" name="TextBox 5"/>
          <p:cNvSpPr txBox="1"/>
          <p:nvPr/>
        </p:nvSpPr>
        <p:spPr>
          <a:xfrm>
            <a:off x="11430000" y="6565392"/>
            <a:ext cx="685800" cy="237744"/>
          </a:xfrm>
          <a:prstGeom prst="rect">
            <a:avLst/>
          </a:prstGeom>
          <a:noFill/>
        </p:spPr>
        <p:txBody>
          <a:bodyPr wrap="square">
            <a:spAutoFit/>
          </a:bodyPr>
          <a:lstStyle/>
          <a:p>
            <a:pPr algn="r"/>
            <a:r>
              <a:rPr sz="1000" b="0" i="0">
                <a:solidFill>
                  <a:srgbClr val="606060"/>
                </a:solidFill>
              </a:rPr>
              <a:t>6 / 6</a:t>
            </a:r>
          </a:p>
        </p:txBody>
      </p:sp>
      <p:sp>
        <p:nvSpPr>
          <p:cNvPr id="7" name="Rectangle 6"/>
          <p:cNvSpPr/>
          <p:nvPr/>
        </p:nvSpPr>
        <p:spPr>
          <a:xfrm>
            <a:off x="411480" y="1024128"/>
            <a:ext cx="3730752" cy="384048"/>
          </a:xfrm>
          <a:prstGeom prst="rect">
            <a:avLst/>
          </a:prstGeom>
          <a:solidFill>
            <a:srgbClr val="1A7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060704"/>
            <a:ext cx="3547872" cy="310896"/>
          </a:xfrm>
          <a:prstGeom prst="rect">
            <a:avLst/>
          </a:prstGeom>
          <a:noFill/>
        </p:spPr>
        <p:txBody>
          <a:bodyPr wrap="square">
            <a:spAutoFit/>
          </a:bodyPr>
          <a:lstStyle/>
          <a:p>
            <a:pPr algn="l"/>
            <a:r>
              <a:rPr sz="1400" b="1" i="0">
                <a:solidFill>
                  <a:srgbClr val="FFFFFF"/>
                </a:solidFill>
              </a:rPr>
              <a:t>Confident</a:t>
            </a:r>
          </a:p>
        </p:txBody>
      </p:sp>
      <p:sp>
        <p:nvSpPr>
          <p:cNvPr id="9" name="Rectangle 8"/>
          <p:cNvSpPr/>
          <p:nvPr/>
        </p:nvSpPr>
        <p:spPr>
          <a:xfrm>
            <a:off x="411480" y="1408176"/>
            <a:ext cx="3730752" cy="5120640"/>
          </a:xfrm>
          <a:prstGeom prst="rect">
            <a:avLst/>
          </a:prstGeom>
          <a:solidFill>
            <a:srgbClr val="E8F5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536192"/>
            <a:ext cx="91440" cy="91440"/>
          </a:xfrm>
          <a:prstGeom prst="rect">
            <a:avLst/>
          </a:prstGeom>
          <a:solidFill>
            <a:srgbClr val="1A7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8952" y="1481328"/>
            <a:ext cx="3291840" cy="1097280"/>
          </a:xfrm>
          <a:prstGeom prst="rect">
            <a:avLst/>
          </a:prstGeom>
          <a:noFill/>
        </p:spPr>
        <p:txBody>
          <a:bodyPr wrap="square">
            <a:spAutoFit/>
          </a:bodyPr>
          <a:lstStyle/>
          <a:p>
            <a:pPr algn="l"/>
            <a:r>
              <a:rPr sz="1100" b="0" i="0">
                <a:solidFill>
                  <a:srgbClr val="2D2D2D"/>
                </a:solidFill>
              </a:rPr>
              <a:t>Fill time reduction is measurable — first-recommendation acceptance rate is a real metric</a:t>
            </a:r>
          </a:p>
        </p:txBody>
      </p:sp>
      <p:sp>
        <p:nvSpPr>
          <p:cNvPr id="12" name="Rectangle 11"/>
          <p:cNvSpPr/>
          <p:nvPr/>
        </p:nvSpPr>
        <p:spPr>
          <a:xfrm>
            <a:off x="548640" y="2743200"/>
            <a:ext cx="91440" cy="91440"/>
          </a:xfrm>
          <a:prstGeom prst="rect">
            <a:avLst/>
          </a:prstGeom>
          <a:solidFill>
            <a:srgbClr val="1A7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 y="2688336"/>
            <a:ext cx="3291840" cy="1097280"/>
          </a:xfrm>
          <a:prstGeom prst="rect">
            <a:avLst/>
          </a:prstGeom>
          <a:noFill/>
        </p:spPr>
        <p:txBody>
          <a:bodyPr wrap="square">
            <a:spAutoFit/>
          </a:bodyPr>
          <a:lstStyle/>
          <a:p>
            <a:pPr algn="l"/>
            <a:r>
              <a:rPr sz="1100" b="0" i="0">
                <a:solidFill>
                  <a:srgbClr val="2D2D2D"/>
                </a:solidFill>
              </a:rPr>
              <a:t>Coordinator trust is built incrementally — rationale + approval gate + override logging</a:t>
            </a:r>
          </a:p>
        </p:txBody>
      </p:sp>
      <p:sp>
        <p:nvSpPr>
          <p:cNvPr id="14" name="Rectangle 13"/>
          <p:cNvSpPr/>
          <p:nvPr/>
        </p:nvSpPr>
        <p:spPr>
          <a:xfrm>
            <a:off x="548640" y="3950208"/>
            <a:ext cx="91440" cy="91440"/>
          </a:xfrm>
          <a:prstGeom prst="rect">
            <a:avLst/>
          </a:prstGeom>
          <a:solidFill>
            <a:srgbClr val="1A7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58952" y="3895344"/>
            <a:ext cx="3291840" cy="1097280"/>
          </a:xfrm>
          <a:prstGeom prst="rect">
            <a:avLst/>
          </a:prstGeom>
          <a:noFill/>
        </p:spPr>
        <p:txBody>
          <a:bodyPr wrap="square">
            <a:spAutoFit/>
          </a:bodyPr>
          <a:lstStyle/>
          <a:p>
            <a:pPr algn="l"/>
            <a:r>
              <a:rPr sz="1100" b="0" i="0">
                <a:solidFill>
                  <a:srgbClr val="2D2D2D"/>
                </a:solidFill>
              </a:rPr>
              <a:t>Agent never touches the hospital relationship</a:t>
            </a:r>
          </a:p>
        </p:txBody>
      </p:sp>
      <p:sp>
        <p:nvSpPr>
          <p:cNvPr id="16" name="Rectangle 15"/>
          <p:cNvSpPr/>
          <p:nvPr/>
        </p:nvSpPr>
        <p:spPr>
          <a:xfrm>
            <a:off x="548640" y="5157216"/>
            <a:ext cx="91440" cy="91440"/>
          </a:xfrm>
          <a:prstGeom prst="rect">
            <a:avLst/>
          </a:prstGeom>
          <a:solidFill>
            <a:srgbClr val="1A7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8952" y="5102352"/>
            <a:ext cx="3291840" cy="1097280"/>
          </a:xfrm>
          <a:prstGeom prst="rect">
            <a:avLst/>
          </a:prstGeom>
          <a:noFill/>
        </p:spPr>
        <p:txBody>
          <a:bodyPr wrap="square">
            <a:spAutoFit/>
          </a:bodyPr>
          <a:lstStyle/>
          <a:p>
            <a:pPr algn="l"/>
            <a:r>
              <a:rPr sz="1100" b="0" i="0">
                <a:solidFill>
                  <a:srgbClr val="2D2D2D"/>
                </a:solidFill>
              </a:rPr>
              <a:t>Wave 2 is gated — does not start unless the pilot data supports it</a:t>
            </a:r>
          </a:p>
        </p:txBody>
      </p:sp>
      <p:sp>
        <p:nvSpPr>
          <p:cNvPr id="18" name="Rectangle 17"/>
          <p:cNvSpPr/>
          <p:nvPr/>
        </p:nvSpPr>
        <p:spPr>
          <a:xfrm>
            <a:off x="548640" y="6364224"/>
            <a:ext cx="91440" cy="91440"/>
          </a:xfrm>
          <a:prstGeom prst="rect">
            <a:avLst/>
          </a:prstGeom>
          <a:solidFill>
            <a:srgbClr val="1A7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8952" y="6309360"/>
            <a:ext cx="3291840" cy="1097280"/>
          </a:xfrm>
          <a:prstGeom prst="rect">
            <a:avLst/>
          </a:prstGeom>
          <a:noFill/>
        </p:spPr>
        <p:txBody>
          <a:bodyPr wrap="square">
            <a:spAutoFit/>
          </a:bodyPr>
          <a:lstStyle/>
          <a:p>
            <a:pPr algn="l"/>
            <a:r>
              <a:rPr sz="1100" b="0" i="0">
                <a:solidFill>
                  <a:srgbClr val="2D2D2D"/>
                </a:solidFill>
              </a:rPr>
              <a:t>Production failure modes are identified and designed for before build</a:t>
            </a:r>
          </a:p>
        </p:txBody>
      </p:sp>
      <p:sp>
        <p:nvSpPr>
          <p:cNvPr id="20" name="Rectangle 19"/>
          <p:cNvSpPr/>
          <p:nvPr/>
        </p:nvSpPr>
        <p:spPr>
          <a:xfrm>
            <a:off x="4343400" y="1024128"/>
            <a:ext cx="3730752" cy="384048"/>
          </a:xfrm>
          <a:prstGeom prst="rect">
            <a:avLst/>
          </a:prstGeom>
          <a:solidFill>
            <a:srgbClr val="CC8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80560" y="1060704"/>
            <a:ext cx="3547872" cy="310896"/>
          </a:xfrm>
          <a:prstGeom prst="rect">
            <a:avLst/>
          </a:prstGeom>
          <a:noFill/>
        </p:spPr>
        <p:txBody>
          <a:bodyPr wrap="square">
            <a:spAutoFit/>
          </a:bodyPr>
          <a:lstStyle/>
          <a:p>
            <a:pPr algn="l"/>
            <a:r>
              <a:rPr sz="1400" b="1" i="0">
                <a:solidFill>
                  <a:srgbClr val="FFFFFF"/>
                </a:solidFill>
              </a:rPr>
              <a:t>Uncertain</a:t>
            </a:r>
          </a:p>
        </p:txBody>
      </p:sp>
      <p:sp>
        <p:nvSpPr>
          <p:cNvPr id="22" name="Rectangle 21"/>
          <p:cNvSpPr/>
          <p:nvPr/>
        </p:nvSpPr>
        <p:spPr>
          <a:xfrm>
            <a:off x="4343400" y="1408176"/>
            <a:ext cx="3730752" cy="5120640"/>
          </a:xfrm>
          <a:prstGeom prst="rect">
            <a:avLst/>
          </a:prstGeom>
          <a:solidFill>
            <a:srgbClr val="FDF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1536192"/>
            <a:ext cx="91440" cy="91440"/>
          </a:xfrm>
          <a:prstGeom prst="rect">
            <a:avLst/>
          </a:prstGeom>
          <a:solidFill>
            <a:srgbClr val="CC8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690872" y="1481328"/>
            <a:ext cx="3291840" cy="1097280"/>
          </a:xfrm>
          <a:prstGeom prst="rect">
            <a:avLst/>
          </a:prstGeom>
          <a:noFill/>
        </p:spPr>
        <p:txBody>
          <a:bodyPr wrap="square">
            <a:spAutoFit/>
          </a:bodyPr>
          <a:lstStyle/>
          <a:p>
            <a:pPr algn="l"/>
            <a:r>
              <a:rPr sz="1100" b="0" i="0">
                <a:solidFill>
                  <a:srgbClr val="2D2D2D"/>
                </a:solidFill>
              </a:rPr>
              <a:t>CRM data quality — if response rates and no-show history are sparse, ranking quality is low</a:t>
            </a:r>
          </a:p>
        </p:txBody>
      </p:sp>
      <p:sp>
        <p:nvSpPr>
          <p:cNvPr id="25" name="Rectangle 24"/>
          <p:cNvSpPr/>
          <p:nvPr/>
        </p:nvSpPr>
        <p:spPr>
          <a:xfrm>
            <a:off x="4480560" y="2743200"/>
            <a:ext cx="91440" cy="91440"/>
          </a:xfrm>
          <a:prstGeom prst="rect">
            <a:avLst/>
          </a:prstGeom>
          <a:solidFill>
            <a:srgbClr val="CC8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690872" y="2688336"/>
            <a:ext cx="3291840" cy="1097280"/>
          </a:xfrm>
          <a:prstGeom prst="rect">
            <a:avLst/>
          </a:prstGeom>
          <a:noFill/>
        </p:spPr>
        <p:txBody>
          <a:bodyPr wrap="square">
            <a:spAutoFit/>
          </a:bodyPr>
          <a:lstStyle/>
          <a:p>
            <a:pPr algn="l"/>
            <a:r>
              <a:rPr sz="1100" b="0" i="0">
                <a:solidFill>
                  <a:srgbClr val="2D2D2D"/>
                </a:solidFill>
              </a:rPr>
              <a:t>Urgency tier thresholds — the 4h/24h boundaries are configurable defaults, not validated against MedFlex data</a:t>
            </a:r>
          </a:p>
        </p:txBody>
      </p:sp>
      <p:sp>
        <p:nvSpPr>
          <p:cNvPr id="27" name="Rectangle 26"/>
          <p:cNvSpPr/>
          <p:nvPr/>
        </p:nvSpPr>
        <p:spPr>
          <a:xfrm>
            <a:off x="4480560" y="3950208"/>
            <a:ext cx="91440" cy="91440"/>
          </a:xfrm>
          <a:prstGeom prst="rect">
            <a:avLst/>
          </a:prstGeom>
          <a:solidFill>
            <a:srgbClr val="CC8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90872" y="3895344"/>
            <a:ext cx="3291840" cy="1097280"/>
          </a:xfrm>
          <a:prstGeom prst="rect">
            <a:avLst/>
          </a:prstGeom>
          <a:noFill/>
        </p:spPr>
        <p:txBody>
          <a:bodyPr wrap="square">
            <a:spAutoFit/>
          </a:bodyPr>
          <a:lstStyle/>
          <a:p>
            <a:pPr algn="l"/>
            <a:r>
              <a:rPr sz="1100" b="0" i="0">
                <a:solidFill>
                  <a:srgbClr val="2D2D2D"/>
                </a:solidFill>
              </a:rPr>
              <a:t>in_active_outreach state consistency at concurrent fill volume not testable before live operation</a:t>
            </a:r>
          </a:p>
        </p:txBody>
      </p:sp>
      <p:sp>
        <p:nvSpPr>
          <p:cNvPr id="29" name="Rectangle 28"/>
          <p:cNvSpPr/>
          <p:nvPr/>
        </p:nvSpPr>
        <p:spPr>
          <a:xfrm>
            <a:off x="4480560" y="5157216"/>
            <a:ext cx="91440" cy="91440"/>
          </a:xfrm>
          <a:prstGeom prst="rect">
            <a:avLst/>
          </a:prstGeom>
          <a:solidFill>
            <a:srgbClr val="CC8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90872" y="5102352"/>
            <a:ext cx="3291840" cy="1097280"/>
          </a:xfrm>
          <a:prstGeom prst="rect">
            <a:avLst/>
          </a:prstGeom>
          <a:noFill/>
        </p:spPr>
        <p:txBody>
          <a:bodyPr wrap="square">
            <a:spAutoFit/>
          </a:bodyPr>
          <a:lstStyle/>
          <a:p>
            <a:pPr algn="l"/>
            <a:r>
              <a:rPr sz="1100" b="0" i="0">
                <a:solidFill>
                  <a:srgbClr val="2D2D2D"/>
                </a:solidFill>
              </a:rPr>
              <a:t>Nurse confirmation via different channel — a known gap with no technical fix</a:t>
            </a:r>
          </a:p>
        </p:txBody>
      </p:sp>
      <p:sp>
        <p:nvSpPr>
          <p:cNvPr id="31" name="Rectangle 30"/>
          <p:cNvSpPr/>
          <p:nvPr/>
        </p:nvSpPr>
        <p:spPr>
          <a:xfrm>
            <a:off x="8275319" y="1024128"/>
            <a:ext cx="3730752" cy="384048"/>
          </a:xfrm>
          <a:prstGeom prst="rect">
            <a:avLst/>
          </a:prstGeom>
          <a:solidFill>
            <a:srgbClr val="BF3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412480" y="1060704"/>
            <a:ext cx="3547872" cy="310896"/>
          </a:xfrm>
          <a:prstGeom prst="rect">
            <a:avLst/>
          </a:prstGeom>
          <a:noFill/>
        </p:spPr>
        <p:txBody>
          <a:bodyPr wrap="square">
            <a:spAutoFit/>
          </a:bodyPr>
          <a:lstStyle/>
          <a:p>
            <a:pPr algn="l"/>
            <a:r>
              <a:rPr sz="1400" b="1" i="0">
                <a:solidFill>
                  <a:srgbClr val="FFFFFF"/>
                </a:solidFill>
              </a:rPr>
              <a:t>What changes the design</a:t>
            </a:r>
          </a:p>
        </p:txBody>
      </p:sp>
      <p:sp>
        <p:nvSpPr>
          <p:cNvPr id="33" name="Rectangle 32"/>
          <p:cNvSpPr/>
          <p:nvPr/>
        </p:nvSpPr>
        <p:spPr>
          <a:xfrm>
            <a:off x="8275319" y="1408176"/>
            <a:ext cx="3730752" cy="5120640"/>
          </a:xfrm>
          <a:prstGeom prst="rect">
            <a:avLst/>
          </a:prstGeom>
          <a:solidFill>
            <a:srgbClr val="FBEB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412480" y="1536192"/>
            <a:ext cx="91440" cy="91440"/>
          </a:xfrm>
          <a:prstGeom prst="rect">
            <a:avLst/>
          </a:prstGeom>
          <a:solidFill>
            <a:srgbClr val="BF3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622792" y="1481328"/>
            <a:ext cx="3291840" cy="1097280"/>
          </a:xfrm>
          <a:prstGeom prst="rect">
            <a:avLst/>
          </a:prstGeom>
          <a:noFill/>
        </p:spPr>
        <p:txBody>
          <a:bodyPr wrap="square">
            <a:spAutoFit/>
          </a:bodyPr>
          <a:lstStyle/>
          <a:p>
            <a:pPr algn="l"/>
            <a:r>
              <a:rPr sz="1100" b="0" i="0">
                <a:solidFill>
                  <a:srgbClr val="2D2D2D"/>
                </a:solidFill>
              </a:rPr>
              <a:t>If CRM data is too sparse: Wave 1 starts with credential + proximity ranking only — rationale flags this explicitly</a:t>
            </a:r>
          </a:p>
        </p:txBody>
      </p:sp>
      <p:sp>
        <p:nvSpPr>
          <p:cNvPr id="36" name="Rectangle 35"/>
          <p:cNvSpPr/>
          <p:nvPr/>
        </p:nvSpPr>
        <p:spPr>
          <a:xfrm>
            <a:off x="8412480" y="2743200"/>
            <a:ext cx="91440" cy="91440"/>
          </a:xfrm>
          <a:prstGeom prst="rect">
            <a:avLst/>
          </a:prstGeom>
          <a:solidFill>
            <a:srgbClr val="BF3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622792" y="2688336"/>
            <a:ext cx="3291840" cy="1097280"/>
          </a:xfrm>
          <a:prstGeom prst="rect">
            <a:avLst/>
          </a:prstGeom>
          <a:noFill/>
        </p:spPr>
        <p:txBody>
          <a:bodyPr wrap="square">
            <a:spAutoFit/>
          </a:bodyPr>
          <a:lstStyle/>
          <a:p>
            <a:pPr algn="l"/>
            <a:r>
              <a:rPr sz="1100" b="0" i="0">
                <a:solidFill>
                  <a:srgbClr val="2D2D2D"/>
                </a:solidFill>
              </a:rPr>
              <a:t>If shared state infrastructure doesn't exist: database flag per nurse (slower, same outcome)</a:t>
            </a:r>
          </a:p>
        </p:txBody>
      </p:sp>
      <p:sp>
        <p:nvSpPr>
          <p:cNvPr id="38" name="Rectangle 37"/>
          <p:cNvSpPr/>
          <p:nvPr/>
        </p:nvSpPr>
        <p:spPr>
          <a:xfrm>
            <a:off x="8412480" y="3950208"/>
            <a:ext cx="91440" cy="91440"/>
          </a:xfrm>
          <a:prstGeom prst="rect">
            <a:avLst/>
          </a:prstGeom>
          <a:solidFill>
            <a:srgbClr val="BF3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622792" y="3895344"/>
            <a:ext cx="3291840" cy="1097280"/>
          </a:xfrm>
          <a:prstGeom prst="rect">
            <a:avLst/>
          </a:prstGeom>
          <a:noFill/>
        </p:spPr>
        <p:txBody>
          <a:bodyPr wrap="square">
            <a:spAutoFit/>
          </a:bodyPr>
          <a:lstStyle/>
          <a:p>
            <a:pPr algn="l"/>
            <a:r>
              <a:rPr sz="1100" b="0" i="0">
                <a:solidFill>
                  <a:srgbClr val="2D2D2D"/>
                </a:solidFill>
              </a:rPr>
              <a:t>If urgency thresholds don't match MedFlex patterns: reconfigure after weeks 2–5 pilot data</a:t>
            </a:r>
          </a:p>
        </p:txBody>
      </p:sp>
      <p:sp>
        <p:nvSpPr>
          <p:cNvPr id="40" name="Rectangle 39"/>
          <p:cNvSpPr/>
          <p:nvPr/>
        </p:nvSpPr>
        <p:spPr>
          <a:xfrm>
            <a:off x="8412480" y="5157216"/>
            <a:ext cx="91440" cy="91440"/>
          </a:xfrm>
          <a:prstGeom prst="rect">
            <a:avLst/>
          </a:prstGeom>
          <a:solidFill>
            <a:srgbClr val="BF3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622792" y="5102352"/>
            <a:ext cx="3291840" cy="1097280"/>
          </a:xfrm>
          <a:prstGeom prst="rect">
            <a:avLst/>
          </a:prstGeom>
          <a:noFill/>
        </p:spPr>
        <p:txBody>
          <a:bodyPr wrap="square">
            <a:spAutoFit/>
          </a:bodyPr>
          <a:lstStyle/>
          <a:p>
            <a:pPr algn="l"/>
            <a:r>
              <a:rPr sz="1100" b="0" i="0">
                <a:solidFill>
                  <a:srgbClr val="2D2D2D"/>
                </a:solidFill>
              </a:rPr>
              <a:t>If acceptance rate stays below 90%: investigate — ranking or outreach, not both at once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